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Présenter Astreintes comme un prototype ou pilote dont la production reste à préparer. L'objectif de cette réunion est de décider du niveau de protection attendu et des preuves nécessaires avant d'utiliser des données réelles. Le support distingue quatre défauts étayés dans le code, des mesures déjà présentes et des questions d'exploitation. Les anciens audits du dépôt concernent plusieurs états successifs. La présente revue s'appuie sur l'état courant et ne reprend pas leurs niveaux de gravité automatiquement. La présentation dure 38 minutes, suivies de 7 minutes de discussion. Les annexes apportent les références et les tests attendus.</a:t>
            </a:r>
          </a:p>
          <a:p>
            <a:endParaRPr/>
          </a:p>
          <a:p>
            <a:r>
              <a:t>Sources :</a:t>
            </a:r>
          </a:p>
          <a:p>
            <a:r>
              <a:t>Contexte fourni par le porteur du projet : prototype/pilote, 45 minutes</a:t>
            </a:r>
          </a:p>
          <a:p>
            <a:r>
              <a:t>README.md:3-13</a:t>
            </a:r>
          </a:p>
          <a:p>
            <a:r>
              <a:t>Révision source : bad21eb82c6ca3224803dbe54766a25da0df0320</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La recommandation est de conditionner le passage en production à des résultats observables. Ce n'est pas une décision d'homologation déjà prise. Le RSSI et le responsable métier doivent déterminer les conditions d'un pilote, l'audience des données et l'autorité qui acceptera les risques résiduels. Les corrections d'accès SQL sont prioritaires car un bouton masqué ne protège pas une API. L'admission et l'exploitation doivent être définies avant de rendre l'application accessible. Proposer des données fictives pendant les travaux permet de poursuivre la recette fonctionnelle. Aucune exposition Internet réelle, ni configuration de production, n'a été fournie ou vérifiée. Demander qui porte la décision et qui fournit les preuves techniques.</a:t>
            </a:r>
          </a:p>
          <a:p>
            <a:endParaRPr/>
          </a:p>
          <a:p>
            <a:r>
              <a:t>Sources :</a:t>
            </a:r>
          </a:p>
          <a:p>
            <a:r>
              <a:t>schema.sql:967-975</a:t>
            </a:r>
          </a:p>
          <a:p>
            <a:r>
              <a:t>docs/access-rules.md, sections 9 et 10</a:t>
            </a:r>
          </a:p>
          <a:p>
            <a:r>
              <a:t>Contexte utilisateur : production à préparer</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La cible est C:\Users\ellan\workspace\astreintes, commit bad21eb82c6ca3224803dbe54766a25da0df0320. L'arbre était propre au début de la revue. Un baseline indépendant, une revue d'architecture et une investigation de configuration ont complété la validation des constats par le parent. La couverture reste partielle : 44 fichiers ont été intégralement examinés pour la sécurité, des extraits de consommateurs supplémentaires ont été vérifiés et 180 fichiers n'ont pas été intégralement audités. Aucun test SQL, HTTP, démarrage de service, scan de réseau ou contact avec la production n'a été exécuté. Les comptes et secrets déployés, l'historique Git et les dépendances installées ne sont pas exhaustivement audités. Les anciens résultats d'audit et de tests ne prouvent pas l'état de ce déploiement futur.</a:t>
            </a:r>
          </a:p>
          <a:p>
            <a:endParaRPr/>
          </a:p>
          <a:p>
            <a:r>
              <a:t>Sources :</a:t>
            </a:r>
          </a:p>
          <a:p>
            <a:r>
              <a:t>Rapport Codex Security, scan 9e15c02b-6161-4ac4-8a80-9ea039621f37</a:t>
            </a:r>
          </a:p>
          <a:p>
            <a:r>
              <a:t>scope et coverage.json du scan courant</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Le projet gère les astreintes, interventions et travaux supplémentaires, puis prépare des calculs et fichiers RH. Le code ne démontre pas un paiement automatique ni une décision humaine finale de validation RH. Il faut donc relier chaque risque à son impact concret : accès à des commentaires ou dates d'activité, modification des heures calculées, fiabilité du statut d'approbation, perte de disponibilité pendant la planification. Les signatures stockées sont des visuels et des métadonnées applicatives. Aucun mécanisme de signature cryptographique n'a été établi. La sensibilité exacte des commentaires et la liste des destinataires autorisés doivent être définies par le responsable métier, avec le DPO pour les questions relatives aux données personnelles.</a:t>
            </a:r>
          </a:p>
          <a:p>
            <a:endParaRPr/>
          </a:p>
          <a:p>
            <a:r>
              <a:t>Sources :</a:t>
            </a:r>
          </a:p>
          <a:p>
            <a:r>
              <a:t>README.md:3-13</a:t>
            </a:r>
          </a:p>
          <a:p>
            <a:r>
              <a:t>schema.sql:185-194,223-246,414-427</a:t>
            </a:r>
          </a:p>
          <a:p>
            <a:r>
              <a:t>src/app/pages/rh/export-libraries/rh-period-excel-export.lib.ts:49-73</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Suivre un exemple simple : l'agent s'authentifie auprès de Supabase, Angular reçoit sa session, les repositories appellent PostgREST, PostgreSQL applique ses droits et politiques, puis NgRx met à jour l'écran. Il n'existe pas dans les sources inspectées de serveur métier intermédiaire centralisant toutes les autorisations. En Docker, le navigateur peut utiliser la même origine et le préfixe /supabase. Nginx relaie alors l'appel vers un service Supabase séparé. Le compose applicatif ne contient pas ce service. Realtime provoque des rechargements par le même client. Les exports Excel sont générés sur le poste. L'architecture est compatible avec un accès direct sécurisé si les droits de chaque table et les opérations sensibles sont correctement définis.</a:t>
            </a:r>
          </a:p>
          <a:p>
            <a:endParaRPr/>
          </a:p>
          <a:p>
            <a:r>
              <a:t>Sources :</a:t>
            </a:r>
          </a:p>
          <a:p>
            <a:r>
              <a:t>src/app/store/app-store.ts:10-29</a:t>
            </a:r>
          </a:p>
          <a:p>
            <a:r>
              <a:t>src/app/store/relational/domain-observer.ts:18-43</a:t>
            </a:r>
          </a:p>
          <a:p>
            <a:r>
              <a:t>nginx.conf:22-33</a:t>
            </a:r>
          </a:p>
          <a:p>
            <a:r>
              <a:t>Dockerfile:15-30</a:t>
            </a:r>
          </a:p>
          <a:p>
            <a:r>
              <a:t>compose.yaml:4-12</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Le contrôle à évaluer est celui qui s'applique à la requête réellement reçue, pas celui qui guide l'utilisateur dans le parcours normal. Un utilisateur connecté possède déjà un jeton lui permettant d'appeler l'API. Il peut utiliser son navigateur ou un client HTTP sans être administrateur. La gateway ne rajoute pas une autorisation métier. Auth répond à la question de l'identité, tandis que les GRANT et politiques déterminent les opérations et lignes accessibles. Une restriction permissive vraie peut coexister avec une restriction AS RESTRICTIVE sur les écritures : cette coexistence ne prouve pas un contournement, car les restrictions doivent également être satisfaites. Nous avons donc examiné les règles finales par opération.</a:t>
            </a:r>
          </a:p>
          <a:p>
            <a:endParaRPr/>
          </a:p>
          <a:p>
            <a:r>
              <a:t>Sources :</a:t>
            </a:r>
          </a:p>
          <a:p>
            <a:r>
              <a:t>schema.sql:967-975,1098,1159-1163</a:t>
            </a:r>
          </a:p>
          <a:p>
            <a:r>
              <a:t>https://supabase.com/docs/guides/database/postgres/row-level-security</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La matrice synthétise docs/access-rules.md et les contrôles existants. Directeur et RH sont deux rôles différents, mais ont les mêmes habilitations dans le code. Cette parité inclut des fonctions de planning et d'approbation, pas seulement la consultation RH. Il faut décider si cette séparation est suffisante pour l'organisation cible. L'administrateur conserve une exception de substitution de visa au nom d'un tiers documentée. Une correction des visas doit préserver cette exception uniquement si elle est acceptée, autorisée et tracée. Les profils absents ou non chargés ne confèrent pas de droits privilégiés dans les sélecteurs inspectés. Ne pas confondre le rôle SQL de transport authenticated avec les rôles métier stockés dans app_users.</a:t>
            </a:r>
          </a:p>
          <a:p>
            <a:endParaRPr/>
          </a:p>
          <a:p>
            <a:r>
              <a:t>Sources :</a:t>
            </a:r>
          </a:p>
          <a:p>
            <a:r>
              <a:t>docs/access-rules.md, sections 1, 2, 5 et 8</a:t>
            </a:r>
          </a:p>
          <a:p>
            <a:r>
              <a:t>src/app/shared/user-role-permissions.ts:1-4</a:t>
            </a:r>
          </a:p>
          <a:p>
            <a:r>
              <a:t>src/app/state/settings/settings.selectors.ts:10-44,56-59</a:t>
            </a:r>
          </a:p>
          <a:p>
            <a:r>
              <a:t>schema.sql:986-995,1019-1082</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Le projet ne part pas de zéro. Le trigger de profil empêche un utilisateur de se promouvoir ou d'usurper son identité. Les politiques restrictives limitent la création de planning, l'édition des opérations et interventions, les coefficients RH et les transitions d'envoi. Nginx utilise un utilisateur non root à l'exécution. npm ci --ignore-scripts et le lockfile limitent les écarts d'installation. La CI lance un audit npm. Des scripts de tests SQL créent des bases isolées et vérifient des refus. Ces contrôles sont établis dans les sources, sans résultat d'exécution nouvellement produit ici. La clé anon de repli identifiée dans le frontend est publique et locale. Cela ne certifie pas la nature de la clé injectée dans un futur déploiement.</a:t>
            </a:r>
          </a:p>
          <a:p>
            <a:endParaRPr/>
          </a:p>
          <a:p>
            <a:r>
              <a:t>Sources :</a:t>
            </a:r>
          </a:p>
          <a:p>
            <a:r>
              <a:t>schema.sql:1037-1082,1117-1268</a:t>
            </a:r>
          </a:p>
          <a:p>
            <a:r>
              <a:t>Dockerfile:7,26-29</a:t>
            </a:r>
          </a:p>
          <a:p>
            <a:r>
              <a:t>.github/workflows/ci.yml:9-32</a:t>
            </a:r>
          </a:p>
          <a:p>
            <a:r>
              <a:t>package.json, scripts test:db-tests et test:all</a:t>
            </a:r>
          </a:p>
          <a:p>
            <a:r>
              <a:t>src/app/store/supabase.config.ts:58-65</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Les quatre constats ont des causes et des corrections distinctes. Ils supposent un compte authentifié, une API accessible à ce compte et le schéma inspecté installé. La qualification modérée tient compte du contexte pilote, du compte requis, des contrôles existants et de l'absence de preuve de paiement automatique ou de validation finale RH frauduleuse. La confiance élevée concerne la lecture des contrôles et des chemins dans le code. Elle ne représente pas une reproduction HTTP ou une confirmation en production. La priorité de traitement peut être élevée pour le projet même si la gravité technique reste modérée : ces défauts touchent les propriétés fondamentales à démontrer avant l'usage de données réelles. Les anciens audits du dépôt ne doivent pas être combinés avec ce tableau comme s'ils portaient sur le même état.</a:t>
            </a:r>
          </a:p>
          <a:p>
            <a:endParaRPr/>
          </a:p>
          <a:p>
            <a:r>
              <a:t>Sources :</a:t>
            </a:r>
          </a:p>
          <a:p>
            <a:r>
              <a:t>Rapport Codex Security courant, quatre constats de gravité medium</a:t>
            </a:r>
          </a:p>
          <a:p>
            <a:r>
              <a:t>schema.sql:967-975,1075,1159-1163,1203-1217</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Les règles métier limitent la visibilité des opérations exceptionnelles pour utilisateurs et initiateurs. Cependant la politique authenticated_access autorise SELECT sans cette restriction, et le repository charge toutes les opérations d'une famille. Les enfants et visas reçoivent la même politique de base. Les images et dessins de signatures de profils sont aussi accessibles aux authentifiés via profiles_read et les lectures de profils. Le besoin d'un annuaire partagé ne suffit pas à décider de l'audience des signatures. Ne pas présenter le planning régulier partagé comme un défaut si sa consultation globale est voulue. Le test de recette doit utiliser deux opérations étrangères et plusieurs rôles, puis appeler l'API directement pour les parents et chaque collection enfant. Une vue annuaire doit respecter les droits de sa table source et ne pas devenir un contournement de RLS.</a:t>
            </a:r>
          </a:p>
          <a:p>
            <a:endParaRPr/>
          </a:p>
          <a:p>
            <a:r>
              <a:t>Sources :</a:t>
            </a:r>
          </a:p>
          <a:p>
            <a:r>
              <a:t>docs/access-rules.md, sections 2 et 4.1</a:t>
            </a:r>
          </a:p>
          <a:p>
            <a:r>
              <a:t>schema.sql:967-975,1075</a:t>
            </a:r>
          </a:p>
          <a:p>
            <a:r>
              <a:t>src/app/store/relational/exceptional.repository.ts:33-36</a:t>
            </a:r>
          </a:p>
          <a:p>
            <a:r>
              <a:t>src/app/store/relational/users.repository.ts:43-57</a:t>
            </a:r>
          </a:p>
          <a:p>
            <a:r>
              <a:t>https://supabase.com/docs/guides/database/postgres/row-level-security</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 min.</a:t>
            </a:r>
          </a:p>
          <a:p>
            <a:endParaRPr/>
          </a:p>
          <a:p>
            <a:r>
              <a:t>Le code transforme signed_at non nul en signed=true. Ce booléen alimente la disponibilité de l'approbation directeur et de l'envoi RH dans le navigateur. Les trois tables concernées sont visas, exceptional_on_call_visas et exceptional_work_visas. Elles reçoivent CRUD sans restriction spécifique de rôle, cible ou signataire. Un compte peut donc modifier l'attribution et le statut hors du parcours UI. Les contraintes FK et de forme vérifient une structure cohérente, pas le droit de signer. La portée reste précisément celle du workflow applicatif : une image ou un dessin informatif n'est pas une preuve de décision finale RH, et aucun mécanisme de signature cryptographique n'a été établi. Prévoir une fonction transactionnelle qui dérive l'identité et l'heure, autorise le scope et les retraits, contrôle le dossier, puis journalise. L'exception administrative doit être explicitement conservée ou retirée après décision métier.</a:t>
            </a:r>
          </a:p>
          <a:p>
            <a:endParaRPr/>
          </a:p>
          <a:p>
            <a:r>
              <a:t>Sources :</a:t>
            </a:r>
          </a:p>
          <a:p>
            <a:r>
              <a:t>schema.sql:414-427,903-918,943-957,967-975</a:t>
            </a:r>
          </a:p>
          <a:p>
            <a:r>
              <a:t>src/app/store/relational/visas.repository.ts:29-35,43-67</a:t>
            </a:r>
          </a:p>
          <a:p>
            <a:r>
              <a:t>src/app/shared/visa-workflow.ts:4-25</a:t>
            </a:r>
          </a:p>
          <a:p>
            <a:r>
              <a:t>docs/security-verification-informational-visas.md</a:t>
            </a:r>
          </a:p>
          <a:p>
            <a:r>
              <a:t>docs/access-rules.md, section 5.2</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 min.</a:t>
            </a:r>
          </a:p>
          <a:p>
            <a:endParaRPr/>
          </a:p>
          <a:p>
            <a:r>
              <a:t>Prendre l'exemple d'une intervention personnelle de durée valide : après l'envoi RH, l'agent appelle directement l'API et change cette durée dans la période permise. La politique propriétaire reste satisfaite. Les triggers de rattachement et de dates ne vérifient pas l'état envoyé du parent. Il peut également supprimer la ligne. Pour les participants exceptionnels, l'initiateur conserve des écritures sans verrou parent. Les triggers de verrou après envoi portent sur les parents, et guard_rh_send_transition protège le changement de statut, pas la mutation enfant. Les données rechargées et les calculs peuvent alors diverger de ce qui a été examiné avant envoi. La réouverture par admin/director/rh est une action prévue dans l'interface et en SQL : elle n'est pas présentée comme une attaque. La correction doit verrouiller le parent en transaction, couvrir les anciennes et nouvelles cibles lors des déplacements et tester les courses avec l'envoi RH.</a:t>
            </a:r>
          </a:p>
          <a:p>
            <a:endParaRPr/>
          </a:p>
          <a:p>
            <a:r>
              <a:t>Sources :</a:t>
            </a:r>
          </a:p>
          <a:p>
            <a:r>
              <a:t>schema.sql:572,579,586,593,882-898</a:t>
            </a:r>
          </a:p>
          <a:p>
            <a:r>
              <a:t>schema.sql:1159-1163,1203-1217,1237-1268</a:t>
            </a:r>
          </a:p>
          <a:p>
            <a:r>
              <a:t>src/app/store/relational/visa-workflow.persistence.ts:39-51</a:t>
            </a:r>
          </a:p>
          <a:p>
            <a:r>
              <a:t>src/app/pages/rh/rh-exports.component.ts:172-178,257-274</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La correction des coefficients RH ne couvre pas tous les paramètres qui influencent l'application. public_holidays reçoit les droits généraux, alors que l'écran le réserve à l'administrateur. Le calcul détecte les jours fériés à partir des données chargées. L'attaquant peut donc modifier cette classification sans changer un coefficient. schedule_rules reste aussi sous politique large, même si son effet exact sur tous les calculs n'est pas établi dans cette revue. Les équipes et leurs membres nécessitent la même revue de matrice, car certains droits d'encadrement sont voulus, mais le profil utilisateur n'ouvre pas les paramètres. La correction doit être définie par table et par opération, puis validée avec des cas positifs et négatifs. Garder les lectures nécessaires aux calculs et ne pas retirer arbitrairement les fonctions métier existantes.</a:t>
            </a:r>
          </a:p>
          <a:p>
            <a:endParaRPr/>
          </a:p>
          <a:p>
            <a:r>
              <a:t>Sources :</a:t>
            </a:r>
          </a:p>
          <a:p>
            <a:r>
              <a:t>schema.sql:259-268,372-379,967-975,1222-1232</a:t>
            </a:r>
          </a:p>
          <a:p>
            <a:r>
              <a:t>src/app/pages/settings/settings-page.component.ts:42</a:t>
            </a:r>
          </a:p>
          <a:p>
            <a:r>
              <a:t>src/app/store/relational/holidays.repository.ts:26-39</a:t>
            </a:r>
          </a:p>
          <a:p>
            <a:r>
              <a:t>src/app/store/relational/schedule.repository.ts:71-82</a:t>
            </a:r>
          </a:p>
          <a:p>
            <a:r>
              <a:t>src/app/pages/rh/export-libraries/rh-export-calculations.ts:299-304</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Ce point complète les constats de visas et de verrou sans inventer un cinquième incident indépendant. Un rôle admin/director/rh peut modifier sent_to_rh_at directement alors que le navigateur exigerait les visas. docs/access-rules.md décrit ces prérequis comme une règle attendue : ils doivent donc être imposés au même niveau que les écritures. Les requêtes de sauvegarde des agrégats sont séparées; la sérialisation dans une instance de navigateur ne fournit pas de transaction entre plusieurs clients. Une fonction SQL doit relire et verrouiller la cible, vérifier la chaîne sur les données actuelles, effectuer la transition et produire une trace dans la même transaction. Prévoir une version de dossier ou un instantané si le métier a besoin de retrouver exactement les heures et règles utilisées lors d'un export.</a:t>
            </a:r>
          </a:p>
          <a:p>
            <a:endParaRPr/>
          </a:p>
          <a:p>
            <a:r>
              <a:t>Sources :</a:t>
            </a:r>
          </a:p>
          <a:p>
            <a:r>
              <a:t>src/app/shared/visa-workflow.ts:4-25</a:t>
            </a:r>
          </a:p>
          <a:p>
            <a:r>
              <a:t>src/app/store/relational/visa-workflow.persistence.ts:19-34,57-90</a:t>
            </a:r>
          </a:p>
          <a:p>
            <a:r>
              <a:t>schema.sql:1237-1268</a:t>
            </a:r>
          </a:p>
          <a:p>
            <a:r>
              <a:t>docs/access-rules.md, sections 5.3 et 9.2</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Les réglages locaux autorisent l'inscription par email sans confirmation et un minimum de six caractères. Les facteurs MFA TOTP/téléphone sont désactivés dans cette configuration. Ces valeurs ne sont pas attribuées à un service de production inconnu. L'organisation doit choisir une admission par invitation ou par fournisseur d'identité autorisé, puis une politique de session et de MFA. Un compte authentifié non admis ne doit pas recevoir de données métier. Supprimer un profil applicatif ne supprime pas le compte Supabase Auth; une nouvelle connexion peut recréer un profil utilisateur. Le départ doit donc traiter l'identité Auth, les sessions et le profil, avec preuve de révocation. Supabase distingue l'ajout d'un facteur et l'application de l'exigence MFA aux ressources : activer une possibilité d'enrôlement ne suffit pas à protéger les actions privilégiées.</a:t>
            </a:r>
          </a:p>
          <a:p>
            <a:endParaRPr/>
          </a:p>
          <a:p>
            <a:r>
              <a:t>Sources :</a:t>
            </a:r>
          </a:p>
          <a:p>
            <a:r>
              <a:t>supabase/config.toml:176-185,221-226,303-309</a:t>
            </a:r>
          </a:p>
          <a:p>
            <a:r>
              <a:t>src/app/store/app-store.ts:10-16</a:t>
            </a:r>
          </a:p>
          <a:p>
            <a:r>
              <a:t>src/app/store/relational/auth.ts:29-62</a:t>
            </a:r>
          </a:p>
          <a:p>
            <a:r>
              <a:t>docs/access-rules.md, section 8</a:t>
            </a:r>
          </a:p>
          <a:p>
            <a:r>
              <a:t>https://supabase.com/docs/guides/auth/auth-mfa</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La documentation envisage Tailscale Funnel pour HTTPS public. Le serveur Nginx écoute sur HTTP 8080 et compose publie 8180 sans adresse de liaison restreinte. La cible interne par défaut est http://host.docker.internal:8000. Ces valeurs nécessitent une revue du déploiement choisi : réseau de confiance, ports atteignables, chiffrement externe et éventuellement interne. Le bloc gateway relaie tous les suffixes, mais cela ne prouve pas que Studio ou un service administratif se trouve derrière cet upstream. Il faut inventorier les routes effectives, puis limiter celles dont l'application a besoin. nginx.conf ne déclare pas de CSP, frame-ancestors ou Referrer-Policy. Une infrastructure amont peut en ajouter, à vérifier. L'absence d'en-têtes ne démontre pas une XSS. Contrôler aussi les données de protocole transmises au service après terminaison TLS et tester les WebSockets nécessaires à Realtime.</a:t>
            </a:r>
          </a:p>
          <a:p>
            <a:endParaRPr/>
          </a:p>
          <a:p>
            <a:r>
              <a:t>Sources :</a:t>
            </a:r>
          </a:p>
          <a:p>
            <a:r>
              <a:t>nginx.conf:2,22-33</a:t>
            </a:r>
          </a:p>
          <a:p>
            <a:r>
              <a:t>compose.yaml:6,11-12</a:t>
            </a:r>
          </a:p>
          <a:p>
            <a:r>
              <a:t>README.md, déploiement Portainer et Tailscale Funnel</a:t>
            </a:r>
          </a:p>
          <a:p>
            <a:r>
              <a:t>index.html</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Les exports sont générés côté navigateur. Le code d'un bouton peut vérifier le rôle, mais un utilisateur disposant des données brutes peut conserver une copie par un autre moyen. Le cloisonnement des lectures est donc la première limite de confidentialité. La CNIL fournit un guide de sécurité couvrant notamment authentification, habilitations, traçabilité et sauvegardes. Ce support ne prononce pas de conformité RGPD ni de qualification biométrique des signatures. Le DPO et le métier doivent définir les finalités, données nécessaires, durées de conservation et destinataires. L'exploitation doit identifier le lieu d'hébergement, les prestataires, les conditions de copie et les protections des postes. Prévoir une procédure de suppression et le traitement des exports, sauvegardes et journaux sans fixer ici de durée légale inventée.</a:t>
            </a:r>
          </a:p>
          <a:p>
            <a:endParaRPr/>
          </a:p>
          <a:p>
            <a:r>
              <a:t>Sources :</a:t>
            </a:r>
          </a:p>
          <a:p>
            <a:r>
              <a:t>src/app/pages/rh/rh-exports.component.ts:371-386</a:t>
            </a:r>
          </a:p>
          <a:p>
            <a:r>
              <a:t>src/app/pages/rh/export-libraries/rh-period-excel-export.lib.ts:49-73</a:t>
            </a:r>
          </a:p>
          <a:p>
            <a:r>
              <a:t>schema.sql:185-194,1075</a:t>
            </a:r>
          </a:p>
          <a:p>
            <a:r>
              <a:t>https://www.cnil.fr/fr/guide-de-la-securite-des-donnees-personnelles</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Des timestamps de modification existent, mais le schéma inspecté n'établit pas un journal métier immuable retraçant chaque acteur et transition. On ne peut pas conclure que les services externes ne produisent aucun log : leur configuration n'a pas été vérifiée. Le besoin est de démontrer une traçabilité adaptée à la question 'qui a changé quelles heures ou quelle habilitation ?'. Une table d'événements alimentée côté serveur est une possibilité. Elle doit être protégée contre les modifications par l'utilisateur à l'origine de l'action. Les traces ne devraient pas recopier les images de signature, secrets ou commentaires complets sans nécessité. Définir qui consulte les journaux, qui reçoit les alertes et comment suspendre un compte puis conserver les éléments utiles. La durée de conservation est à décider selon le besoin et les règles de l'organisation.</a:t>
            </a:r>
          </a:p>
          <a:p>
            <a:endParaRPr/>
          </a:p>
          <a:p>
            <a:r>
              <a:t>Sources :</a:t>
            </a:r>
          </a:p>
          <a:p>
            <a:r>
              <a:t>schema.sql, fonctions set_updated_at et triggers associés</a:t>
            </a:r>
          </a:p>
          <a:p>
            <a:r>
              <a:t>schema.sql:1237-1268</a:t>
            </a:r>
          </a:p>
          <a:p>
            <a:r>
              <a:t>https://www.cnil.fr/fr/guide-de-la-securite-des-donnees-personnelles</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1 min.</a:t>
            </a:r>
          </a:p>
          <a:p>
            <a:endParaRPr/>
          </a:p>
          <a:p>
            <a:r>
              <a:t>Le dépôt demande une sauvegarde/restauration validée avant production, mais aucun résultat d'exercice n'a été produit dans cette revue. La stack applicative ne déploie pas Supabase, donc la responsabilité du service de base doit être attribuée séparément. Faire préciser RTO et RPO par le métier, sans proposer de valeurs arbitraires : combien de temps l'application peut-elle être indisponible, et combien de saisies peut-on perdre ? Le test doit restaurer une base isolée, vérifier les données et les refus d'accès, puis reconnecter une version compatible du frontend. Les paramètres Auth et secrets nécessaires doivent être récupérables avec des contrôles d'accès adaptés. Prévoir un mode de fonctionnement pendant l'arrêt et la réconciliation des saisies au retour. restart:unless-stopped ne prouve pas une haute disponibilité ni un plan de reprise.</a:t>
            </a:r>
          </a:p>
          <a:p>
            <a:endParaRPr/>
          </a:p>
          <a:p>
            <a:r>
              <a:t>Sources :</a:t>
            </a:r>
          </a:p>
          <a:p>
            <a:r>
              <a:t>README.md, points de contrôle avant mise en production</a:t>
            </a:r>
          </a:p>
          <a:p>
            <a:r>
              <a:t>compose.yaml:13</a:t>
            </a:r>
          </a:p>
          <a:p>
            <a:r>
              <a:t>Dockerfile:15-30</a:t>
            </a:r>
          </a:p>
          <a:p>
            <a:r>
              <a:t>https://www.cnil.fr/fr/guide-de-la-securite-des-donnees-personnelles</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La CI actuelle lance npm test, qui exécute Jest et les exports RH. Les contrôles SQL se trouvent dans test:db-tests ou test:all et ne sont pas appelés par ce workflow. Les scripts attendent un conteneur PostgreSQL/Supabase et créent leurs propres bases temporaires. Ajouter une instance isolée à la CI et tester installation complète, migrations réappliquées, cas positifs et négatifs des cinq rôles. Couvrir les quatre constats et les courses de transition RH. Le lockfile et npm ci sont déjà présents. Les images node:22-alpine et nginx-unprivileged:stable-alpine restent des tags mobiles, et package.json ne définit pas engines/packageManager. Stabiliser ces versions avec un processus de mise à jour, plutôt que figer sans maintenance. Aucun audit npm actualisé n'a été relancé ici : les anciens fichiers audit ne prouvent pas l'absence actuelle de vulnérabilités connues.</a:t>
            </a:r>
          </a:p>
          <a:p>
            <a:endParaRPr/>
          </a:p>
          <a:p>
            <a:r>
              <a:t>Sources :</a:t>
            </a:r>
          </a:p>
          <a:p>
            <a:r>
              <a:t>.github/workflows/ci.yml:16-32</a:t>
            </a:r>
          </a:p>
          <a:p>
            <a:r>
              <a:t>package.json, scripts test et test:all</a:t>
            </a:r>
          </a:p>
          <a:p>
            <a:r>
              <a:t>scripts/test-schema.cjs</a:t>
            </a:r>
          </a:p>
          <a:p>
            <a:r>
              <a:t>scripts/test-user-roles.cjs</a:t>
            </a:r>
          </a:p>
          <a:p>
            <a:r>
              <a:t>Dockerfile:2,15</a:t>
            </a:r>
          </a:p>
          <a:p>
            <a:r>
              <a:t>https://supabase.com/docs/guides/database/postgres/row-level-security</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2 min.</a:t>
            </a:r>
          </a:p>
          <a:p>
            <a:endParaRPr/>
          </a:p>
          <a:p>
            <a:r>
              <a:t>Ce sont des options proposées, pas des changements effectués. Option 1 conserve les repositories et ajoute les contrôles manquants. Elle convient pour corriger rapidement les lectures et paramètres, mais une chaîne de visas et un verrou d'agrégat peuvent rester difficiles à maintenir dans plusieurs triggers. Option 2 conserve Supabase et place signature, retrait, envoi et réouverture dans des fonctions transactionnelles à privilèges minimaux. La RLS continue à contrôler les lectures et écritures ordinaires. Elle permet de relire/verrouiller le parent, dériver la session et produire une trace commune. C'est la proposition proportionnée au prototype. Option 3 introduit une API intermédiaire, retire les écritures directes sensibles et centralise les transitions; elle ajoute un service à exploiter sans supprimer le besoin de permissions SQL. Choisir la troisième si les exigences d'intégration, d'audit ou d'isolation la justifient. Prévoir un déploiement de la base avant le client et empêcher les anciens appels d'écriture de rester ouverts.</a:t>
            </a:r>
          </a:p>
          <a:p>
            <a:endParaRPr/>
          </a:p>
          <a:p>
            <a:r>
              <a:t>Sources :</a:t>
            </a:r>
          </a:p>
          <a:p>
            <a:r>
              <a:t>src/app/store/relational/visas.repository.ts:43-67</a:t>
            </a:r>
          </a:p>
          <a:p>
            <a:r>
              <a:t>src/app/store/relational/visa-workflow.persistence.ts:19-90</a:t>
            </a:r>
          </a:p>
          <a:p>
            <a:r>
              <a:t>src/app/store/relational/exceptional.repository.ts, saveExceptionalOperation</a:t>
            </a:r>
          </a:p>
          <a:p>
            <a:r>
              <a:t>schema.sql:967-975,1237-1268</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3 min.</a:t>
            </a:r>
          </a:p>
          <a:p>
            <a:endParaRPr/>
          </a:p>
          <a:p>
            <a:r>
              <a:t>Faire acter les propriétaires de chaque travail plutôt que des dates non estimées. A définit audience, parité RH/directeur, signification des visas, admission, hébergement et besoin de reprise. B corrige les lectures, les trois familles de visas, les mutations après envoi et les paramètres calendaires. Ses preuves comprennent des appels directs API pour cinq rôles, des refus et des succès, ainsi que les courses entre envoi et mutation. C produit une configuration de déploiement documentée, une preuve de MFA privilégiée, des journaux d'actions et une restauration réussie avec permissions. D vérifie le schéma réellement installé et le client compatible, réalise la recette métier, évalue les risques restants puis consigne l'autorisation. Ne pas rejouer un schéma initial sur une base existante : utiliser des migrations adaptées, sauvegarder et tester avant déploiement. Le retour arrière ne doit pas réouvrir les politiques permissives supprimées. Aucun budget ou délai n'a été chiffré dans cette revue.</a:t>
            </a:r>
          </a:p>
          <a:p>
            <a:endParaRPr/>
          </a:p>
          <a:p>
            <a:r>
              <a:t>Sources :</a:t>
            </a:r>
          </a:p>
          <a:p>
            <a:r>
              <a:t>docs/access-rules.md, sections 10 et 11</a:t>
            </a:r>
          </a:p>
          <a:p>
            <a:r>
              <a:t>supabase/migrations/20261010233000_protect_compensation_and_rh_send.sql</a:t>
            </a:r>
          </a:p>
          <a:p>
            <a:r>
              <a:t>schema.sql:967-1268</a:t>
            </a:r>
          </a:p>
          <a:p>
            <a:r>
              <a:t>Rapport de revue courant : remédiations et tests attendus</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indicative : 7 min.</a:t>
            </a:r>
          </a:p>
          <a:p>
            <a:endParaRPr/>
          </a:p>
          <a:p>
            <a:r>
              <a:t>Réserver sept minutes aux décisions. Première question : l'organisation accepte-t-elle une consultation globale des opérations, ou confirme-t-elle le périmètre documenté de participation/initiation ? Cela fixe la RLS de lecture. Deuxième question : les statuts de visas sont-ils des prérequis obligatoires d'envoi et quelles exceptions de substitution sont nécessaires ? Troisième question : la parité RH/directeur est-elle voulue ? Ensuite, déterminer l'admission, l'hébergement, le responsable d'exploitation, les objectifs de reprise et l'autorité qui décidera. Recueillir les décisions sans déclarer le projet approuvé en l'absence de recette. Les trois annexes suivantes sont disponibles pour les détails de source et les tests, mais ne font pas partie des 38 minutes de présentation. Proposer comme livrable de la réunion une liste de responsables et de preuves attendues.</a:t>
            </a:r>
          </a:p>
          <a:p>
            <a:endParaRPr/>
          </a:p>
          <a:p>
            <a:r>
              <a:t>Sources :</a:t>
            </a:r>
          </a:p>
          <a:p>
            <a:r>
              <a:t>docs/access-rules.md, sections 1, 2, 5 et 10</a:t>
            </a:r>
          </a:p>
          <a:p>
            <a:r>
              <a:t>Contexte utilisateur : prototype / pilote</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Annexe, à utiliser selon les questions.</a:t>
            </a:r>
          </a:p>
          <a:p>
            <a:endParaRPr/>
          </a:p>
          <a:p>
            <a:r>
              <a:t>R1 : authenticated_access autorise SELECT sans participation. Les politiques exceptionnelles qui utilisent can_access_exceptional concernent les mutations. profiles_read est également global. R2 : signataire, date et scope sont des valeurs client; les constraints ne vérifient que structure et FK; signed_at devient signed=true. R3 : les triggers parent ne s'exécutent pas sur une mutation enfant. Les politiques d'intervention/participant vérifient ownership et rôle, mais pas sent_to_rh_at du parent. Les contrôles et exports reconstruisent les données courantes. R4 : les jours fériés n'ont pas la politique admin-only des coefficients et servent à classifier les jours des calculs. Pour chaque constat, le rapport contient les extraits, les contre-indications, les préconditions et les remédiations. La localisation d'un contrôle partagé ne signifie pas que les quatre risques ont une seule correction.</a:t>
            </a:r>
          </a:p>
          <a:p>
            <a:endParaRPr/>
          </a:p>
          <a:p>
            <a:r>
              <a:t>Sources :</a:t>
            </a:r>
          </a:p>
          <a:p>
            <a:r>
              <a:t>schema.sql:967-975,1075,1159-1163,1203-1217</a:t>
            </a:r>
          </a:p>
          <a:p>
            <a:r>
              <a:t>src/app/store/relational/exceptional.repository.ts:33-36</a:t>
            </a:r>
          </a:p>
          <a:p>
            <a:r>
              <a:t>src/app/store/relational/visas.repository.ts:29-35,43-67</a:t>
            </a:r>
          </a:p>
          <a:p>
            <a:r>
              <a:t>src/app/pages/rh/rh-exports.component.ts:257-274</a:t>
            </a:r>
          </a:p>
          <a:p>
            <a:r>
              <a:t>src/app/pages/rh/export-libraries/rh-export-calculations.ts:299-304</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Annexe, à utiliser selon les questions.</a:t>
            </a:r>
          </a:p>
          <a:p>
            <a:endParaRPr/>
          </a:p>
          <a:p>
            <a:r>
              <a:t>Exécuter dans un environnement isolé avec données fictives et jetons de tests, après installation complète et migrations. Pour R1, vérifier toutes les familles de données, y compris relations et signatures, et la visibilité autorisée d'un participant/initiator/director/rh. Pour R2, tester INSERT, UPDATE, DELETE, remplacement d'un visa, scope directeur, identité tierce et exception administrative explicite. Pour R3, envoyer le dossier puis tenter changement de durée, ajout, suppression, déplacement entre parents et modification de participants. Exécuter une course contrôlée entre envoi et mutation pour vérifier le verrou transactionnel. Pour R4, tester chaque paramètre avec user et rôle autorisé. Ajouter les accès sans profil ou révoqués. Vérifier aussi qu'un refus peut prendre la forme d'une réponse vide avec certaines politiques RLS; ne pas exiger uniquement une erreur HTTP. Ces tests sont proposés et n'ont pas été exécutés pendant la présente revue.</a:t>
            </a:r>
          </a:p>
          <a:p>
            <a:endParaRPr/>
          </a:p>
          <a:p>
            <a:r>
              <a:t>Sources :</a:t>
            </a:r>
          </a:p>
          <a:p>
            <a:r>
              <a:t>supabase/tests/compensation-rh-permissions-assertions.sql</a:t>
            </a:r>
          </a:p>
          <a:p>
            <a:r>
              <a:t>scripts/test-schema.cjs</a:t>
            </a:r>
          </a:p>
          <a:p>
            <a:r>
              <a:t>scripts/test-user-roles.cjs</a:t>
            </a:r>
          </a:p>
          <a:p>
            <a:r>
              <a:t>RemediationTests des quatre constats courants</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Annexe, à utiliser selon les questions.</a:t>
            </a:r>
          </a:p>
          <a:p>
            <a:endParaRPr/>
          </a:p>
          <a:p>
            <a:r>
              <a:t>Références officielles consultées le 10 octobre 2026 pour les mesures proposées. Supabase RLS : https://supabase.com/docs/guides/database/postgres/row-level-security. Ce guide décrit la combinaison des GRANT et des politiques et recommande des tests allow/deny. Supabase MFA : https://supabase.com/docs/guides/auth/auth-mfa. La protection implique enrôlement et application de l'exigence selon le niveau d'assurance. CNIL : https://www.cnil.fr/fr/guide-de-la-securite-des-donnees-personnelles. Utiliser le guide avec le DPO et le RSSI pour choisir les mesures adaptées; aucune conclusion de conformité n'est fournie ici. Les documents d'audit historiques du dépôt sont des éléments de contexte sur des commits antérieurs. Leur contenu a été confronté aux sources courantes : l'ancienne modification libre des coefficients RH et l'ancienne annulation d'envoi par initiateur ne sont pas présentées comme défauts encore ouverts dans le schéma actuel.</a:t>
            </a:r>
          </a:p>
          <a:p>
            <a:endParaRPr/>
          </a:p>
          <a:p>
            <a:r>
              <a:t>Sources :</a:t>
            </a:r>
          </a:p>
          <a:p>
            <a:r>
              <a:t>https://supabase.com/docs/guides/database/postgres/row-level-security</a:t>
            </a:r>
          </a:p>
          <a:p>
            <a:r>
              <a:t>https://supabase.com/docs/guides/auth/auth-mfa</a:t>
            </a:r>
          </a:p>
          <a:p>
            <a:r>
              <a:t>https://www.cnil.fr/fr/guide-de-la-securite-des-donnees-personnelles</a:t>
            </a:r>
          </a:p>
          <a:p>
            <a:r>
              <a:t>docs/security-audit-current-2026-10-10.md</a:t>
            </a:r>
          </a:p>
          <a:p>
            <a:r>
              <a:t>docs/security-verification-informational-visas.md</a:t>
            </a:r>
          </a:p>
          <a:p>
            <a:endParaRPr/>
          </a:p>
          <a:p>
            <a:r>
              <a:t>Base de travail : C:\Users\ellan\workspace\astreintes, commit bad21eb82c6ca3224803dbe54766a25da0df0320, arbre propre lors de la revue. Revue statique ciblée, couverture partielle. Aucune validation de production.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4D0E44C-B7B4-4574-BBDF-CDF5DDC9230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D6917B7B-7959-4BC5-9D68-9E0F045C418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4CC865C-A3E3-4467-8215-B82A9C8BFD3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4444425-3B81-4351-8FD5-FE9D3761D4C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AA33A8BD-79E2-484E-ADBA-7D0FDFC6AE3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1B660AE-6FAE-43C9-9724-680019B123A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50531B1-107E-4700-99C4-DD8BDCF140F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3CD463A2-6F53-4AD5-A6E0-700D1E70E31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C3F9C7A-C90E-4BC2-B401-DC9A71D6807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0F334E0B-8191-440C-BE4F-6466452670C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04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629040A7-9782-4FC7-B378-BD105C1D1273}"/>
              </a:ext>
            </a:extLst>
          </p:cNvPr>
          <p:cNvSpPr>
            <a:spLocks noGrp="1"/>
          </p:cNvSpPr>
          <p:nvPr/>
        </p:nvSpPr>
        <p:spPr>
          <a:xfrm>
            <a:off x="685800" y="876300"/>
            <a:ext cx="10001250" cy="476250"/>
          </a:xfrm>
          <a:prstGeom prst="rect">
            <a:avLst/>
          </a:prstGeom>
          <a:noFill/>
          <a:ln w="0">
            <a:noFill/>
          </a:ln>
        </p:spPr>
        <p:txBody>
          <a:bodyPr wrap="square" lIns="0" tIns="0" rIns="0" bIns="0" anchor="t">
            <a:noAutofit/>
          </a:bodyPr>
          <a:lstStyle>
            <a:defPPr>
              <a:defRPr sz="2100" b="1">
                <a:solidFill>
                  <a:srgbClr val="A5D3E0"/>
                </a:solidFill>
                <a:latin typeface="Arial"/>
                <a:ea typeface="Arial"/>
                <a:cs typeface="Arial"/>
              </a:defRPr>
            </a:defPPr>
          </a:lstStyle>
          <a:p>
            <a:pPr>
              <a:defRPr sz="2100" b="1">
                <a:solidFill>
                  <a:srgbClr val="A5D3E0"/>
                </a:solidFill>
                <a:latin typeface="Arial"/>
                <a:ea typeface="Arial"/>
                <a:cs typeface="Arial"/>
              </a:defRPr>
            </a:pPr>
            <a:r>
              <a:rPr sz="2100" b="1">
                <a:solidFill>
                  <a:srgbClr val="A5D3E0"/>
                </a:solidFill>
                <a:latin typeface="Arial"/>
                <a:ea typeface="Arial"/>
                <a:cs typeface="Arial"/>
              </a:rPr>
              <a:t>ASTREINTES</a:t>
            </a:r>
          </a:p>
        </p:txBody>
      </p:sp>
      <p:sp>
        <p:nvSpPr>
          <p:cNvPr id="2" name="text">
            <a:extLst>
              <a:ext uri="{FF2B5EF4-FFF2-40B4-BE49-F238E27FC236}">
                <a16:creationId xmlns:a16="http://schemas.microsoft.com/office/drawing/2014/main" id="{E0397383-5072-4218-A7A5-47ADC502FEF2}"/>
              </a:ext>
            </a:extLst>
          </p:cNvPr>
          <p:cNvSpPr>
            <a:spLocks noGrp="1"/>
          </p:cNvSpPr>
          <p:nvPr/>
        </p:nvSpPr>
        <p:spPr>
          <a:xfrm>
            <a:off x="685800" y="2114550"/>
            <a:ext cx="10477500" cy="1809750"/>
          </a:xfrm>
          <a:prstGeom prst="rect">
            <a:avLst/>
          </a:prstGeom>
          <a:noFill/>
          <a:ln w="0">
            <a:noFill/>
          </a:ln>
        </p:spPr>
        <p:txBody>
          <a:bodyPr wrap="square" lIns="0" tIns="0" rIns="0" bIns="0" anchor="t">
            <a:noAutofit/>
          </a:bodyPr>
          <a:lstStyle>
            <a:defPPr>
              <a:defRPr sz="4950" b="1">
                <a:solidFill>
                  <a:srgbClr val="FFFFFF"/>
                </a:solidFill>
                <a:latin typeface="Arial"/>
                <a:ea typeface="Arial"/>
                <a:cs typeface="Arial"/>
              </a:defRPr>
            </a:defPPr>
          </a:lstStyle>
          <a:p>
            <a:pPr>
              <a:defRPr sz="4950" b="1">
                <a:solidFill>
                  <a:srgbClr val="FFFFFF"/>
                </a:solidFill>
                <a:latin typeface="Arial"/>
                <a:ea typeface="Arial"/>
                <a:cs typeface="Arial"/>
              </a:defRPr>
            </a:pPr>
            <a:r>
              <a:rPr sz="4950" b="1">
                <a:solidFill>
                  <a:srgbClr val="FFFFFF"/>
                </a:solidFill>
                <a:latin typeface="Arial"/>
                <a:ea typeface="Arial"/>
                <a:cs typeface="Arial"/>
              </a:rPr>
              <a:t>Sécurité du projet</a:t>
            </a:r>
          </a:p>
          <a:p>
            <a:pPr>
              <a:defRPr sz="4950" b="1">
                <a:solidFill>
                  <a:srgbClr val="FFFFFF"/>
                </a:solidFill>
                <a:latin typeface="Arial"/>
                <a:ea typeface="Arial"/>
                <a:cs typeface="Arial"/>
              </a:defRPr>
            </a:pPr>
            <a:r>
              <a:rPr sz="4950" b="1">
                <a:solidFill>
                  <a:srgbClr val="FFFFFF"/>
                </a:solidFill>
                <a:latin typeface="Arial"/>
                <a:ea typeface="Arial"/>
                <a:cs typeface="Arial"/>
              </a:rPr>
              <a:t>Astreintes</a:t>
            </a:r>
          </a:p>
        </p:txBody>
      </p:sp>
      <p:sp>
        <p:nvSpPr>
          <p:cNvPr id="3" name="text">
            <a:extLst>
              <a:ext uri="{FF2B5EF4-FFF2-40B4-BE49-F238E27FC236}">
                <a16:creationId xmlns:a16="http://schemas.microsoft.com/office/drawing/2014/main" id="{52EEAADE-C0D2-4017-A81A-01ACA9CEFCA4}"/>
              </a:ext>
            </a:extLst>
          </p:cNvPr>
          <p:cNvSpPr>
            <a:spLocks noGrp="1"/>
          </p:cNvSpPr>
          <p:nvPr/>
        </p:nvSpPr>
        <p:spPr>
          <a:xfrm>
            <a:off x="685800" y="4362450"/>
            <a:ext cx="10287000" cy="857250"/>
          </a:xfrm>
          <a:prstGeom prst="rect">
            <a:avLst/>
          </a:prstGeom>
          <a:noFill/>
          <a:ln w="0">
            <a:noFill/>
          </a:ln>
        </p:spPr>
        <p:txBody>
          <a:bodyPr wrap="square" lIns="0" tIns="0" rIns="0" bIns="0" anchor="t">
            <a:noAutofit/>
          </a:bodyPr>
          <a:lstStyle>
            <a:defPPr>
              <a:defRPr sz="2250" b="0">
                <a:solidFill>
                  <a:srgbClr val="D4E5ED"/>
                </a:solidFill>
                <a:latin typeface="Arial"/>
                <a:ea typeface="Arial"/>
                <a:cs typeface="Arial"/>
              </a:defRPr>
            </a:defPPr>
          </a:lstStyle>
          <a:p>
            <a:pPr>
              <a:defRPr sz="2250" b="0">
                <a:solidFill>
                  <a:srgbClr val="D4E5ED"/>
                </a:solidFill>
                <a:latin typeface="Arial"/>
                <a:ea typeface="Arial"/>
                <a:cs typeface="Arial"/>
              </a:defRPr>
            </a:pPr>
            <a:r>
              <a:rPr sz="2250" b="0">
                <a:solidFill>
                  <a:srgbClr val="D4E5ED"/>
                </a:solidFill>
                <a:latin typeface="Arial"/>
                <a:ea typeface="Arial"/>
                <a:cs typeface="Arial"/>
              </a:rPr>
              <a:t>Risques observés et conditions de passage en production</a:t>
            </a:r>
          </a:p>
        </p:txBody>
      </p:sp>
      <p:sp>
        <p:nvSpPr>
          <p:cNvPr id="4" name="text">
            <a:extLst>
              <a:ext uri="{FF2B5EF4-FFF2-40B4-BE49-F238E27FC236}">
                <a16:creationId xmlns:a16="http://schemas.microsoft.com/office/drawing/2014/main" id="{09DA4087-F053-4BDC-A33B-4E0FB65333DE}"/>
              </a:ext>
            </a:extLst>
          </p:cNvPr>
          <p:cNvSpPr>
            <a:spLocks noGrp="1"/>
          </p:cNvSpPr>
          <p:nvPr/>
        </p:nvSpPr>
        <p:spPr>
          <a:xfrm>
            <a:off x="685800" y="6038850"/>
            <a:ext cx="10382250" cy="285750"/>
          </a:xfrm>
          <a:prstGeom prst="rect">
            <a:avLst/>
          </a:prstGeom>
          <a:noFill/>
          <a:ln w="0">
            <a:noFill/>
          </a:ln>
        </p:spPr>
        <p:txBody>
          <a:bodyPr wrap="square" lIns="0" tIns="0" rIns="0" bIns="0" anchor="t">
            <a:noAutofit/>
          </a:bodyPr>
          <a:lstStyle>
            <a:defPPr>
              <a:defRPr sz="1500" b="0">
                <a:solidFill>
                  <a:srgbClr val="A5D3E0"/>
                </a:solidFill>
                <a:latin typeface="Arial"/>
                <a:ea typeface="Arial"/>
                <a:cs typeface="Arial"/>
              </a:defRPr>
            </a:defPPr>
          </a:lstStyle>
          <a:p>
            <a:pPr>
              <a:defRPr sz="1500" b="0">
                <a:solidFill>
                  <a:srgbClr val="A5D3E0"/>
                </a:solidFill>
                <a:latin typeface="Arial"/>
                <a:ea typeface="Arial"/>
                <a:cs typeface="Arial"/>
              </a:defRPr>
            </a:pPr>
            <a:r>
              <a:rPr sz="1500" b="0">
                <a:solidFill>
                  <a:srgbClr val="A5D3E0"/>
                </a:solidFill>
                <a:latin typeface="Arial"/>
                <a:ea typeface="Arial"/>
                <a:cs typeface="Arial"/>
              </a:rPr>
              <a:t>RSSI · Prototype / pilote · 10 octobre 2026</a:t>
            </a:r>
          </a:p>
        </p:txBody>
      </p:sp>
    </p:spTree>
    <p:extLst>
      <p:ext uri="{BB962C8B-B14F-4D97-AF65-F5344CB8AC3E}">
        <p14:creationId xmlns:p14="http://schemas.microsoft.com/office/powerpoint/2010/main" val="672374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304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B902C2DE-E90D-41C0-BE89-0642B07973E5}"/>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FFFFFF"/>
                </a:solidFill>
                <a:latin typeface="Arial"/>
                <a:ea typeface="Arial"/>
                <a:cs typeface="Arial"/>
              </a:defRPr>
            </a:defPPr>
          </a:lstStyle>
          <a:p>
            <a:pPr>
              <a:defRPr sz="3300" b="1">
                <a:solidFill>
                  <a:srgbClr val="FFFFFF"/>
                </a:solidFill>
                <a:latin typeface="Arial"/>
                <a:ea typeface="Arial"/>
                <a:cs typeface="Arial"/>
              </a:defRPr>
            </a:pPr>
            <a:r>
              <a:rPr sz="3300" b="1">
                <a:solidFill>
                  <a:srgbClr val="FFFFFF"/>
                </a:solidFill>
                <a:latin typeface="Arial"/>
                <a:ea typeface="Arial"/>
                <a:cs typeface="Arial"/>
              </a:rPr>
              <a:t>Décision attendue des RSSI</a:t>
            </a:r>
          </a:p>
        </p:txBody>
      </p:sp>
      <p:sp>
        <p:nvSpPr>
          <p:cNvPr id="2" name="text">
            <a:extLst>
              <a:ext uri="{FF2B5EF4-FFF2-40B4-BE49-F238E27FC236}">
                <a16:creationId xmlns:a16="http://schemas.microsoft.com/office/drawing/2014/main" id="{D068A237-6E91-4794-9D86-869B70373F03}"/>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A5D3E0"/>
                </a:solidFill>
                <a:latin typeface="Arial"/>
                <a:ea typeface="Arial"/>
                <a:cs typeface="Arial"/>
              </a:defRPr>
            </a:defPPr>
          </a:lstStyle>
          <a:p>
            <a:pPr>
              <a:defRPr sz="1875" b="1">
                <a:solidFill>
                  <a:srgbClr val="A5D3E0"/>
                </a:solidFill>
                <a:latin typeface="Arial"/>
                <a:ea typeface="Arial"/>
                <a:cs typeface="Arial"/>
              </a:defRPr>
            </a:pPr>
            <a:r>
              <a:rPr sz="1875" b="1">
                <a:solidFill>
                  <a:srgbClr val="A5D3E0"/>
                </a:solidFill>
                <a:latin typeface="Arial"/>
                <a:ea typeface="Arial"/>
                <a:cs typeface="Arial"/>
              </a:rPr>
              <a:t>Avant données réelles</a:t>
            </a:r>
          </a:p>
        </p:txBody>
      </p:sp>
      <p:sp>
        <p:nvSpPr>
          <p:cNvPr id="3" name="text">
            <a:extLst>
              <a:ext uri="{FF2B5EF4-FFF2-40B4-BE49-F238E27FC236}">
                <a16:creationId xmlns:a16="http://schemas.microsoft.com/office/drawing/2014/main" id="{BF5BA8B7-0F4A-4DC7-82C8-8A13BC82CFA6}"/>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FFFFFF"/>
                </a:solidFill>
                <a:latin typeface="Arial"/>
                <a:ea typeface="Arial"/>
                <a:cs typeface="Arial"/>
              </a:defRPr>
            </a:defPPr>
          </a:lstStyle>
          <a:p>
            <a:pPr>
              <a:defRPr sz="2025" b="0">
                <a:solidFill>
                  <a:srgbClr val="FFFFFF"/>
                </a:solidFill>
                <a:latin typeface="Arial"/>
                <a:ea typeface="Arial"/>
                <a:cs typeface="Arial"/>
              </a:defRPr>
            </a:pPr>
            <a:r>
              <a:rPr sz="2025" b="0">
                <a:solidFill>
                  <a:srgbClr val="FFFFFF"/>
                </a:solidFill>
                <a:latin typeface="Arial"/>
                <a:ea typeface="Arial"/>
                <a:cs typeface="Arial"/>
              </a:rPr>
              <a:t>Droits SQL, intégrité du workflow et admission des comptes à sécuriser.</a:t>
            </a:r>
          </a:p>
        </p:txBody>
      </p:sp>
      <p:sp>
        <p:nvSpPr>
          <p:cNvPr id="4" name="text">
            <a:extLst>
              <a:ext uri="{FF2B5EF4-FFF2-40B4-BE49-F238E27FC236}">
                <a16:creationId xmlns:a16="http://schemas.microsoft.com/office/drawing/2014/main" id="{5ABC046F-492B-4C78-A46C-067615FCA728}"/>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A5D3E0"/>
                </a:solidFill>
                <a:latin typeface="Arial"/>
                <a:ea typeface="Arial"/>
                <a:cs typeface="Arial"/>
              </a:defRPr>
            </a:defPPr>
          </a:lstStyle>
          <a:p>
            <a:pPr>
              <a:defRPr sz="1875" b="1">
                <a:solidFill>
                  <a:srgbClr val="A5D3E0"/>
                </a:solidFill>
                <a:latin typeface="Arial"/>
                <a:ea typeface="Arial"/>
                <a:cs typeface="Arial"/>
              </a:defRPr>
            </a:pPr>
            <a:r>
              <a:rPr sz="1875" b="1">
                <a:solidFill>
                  <a:srgbClr val="A5D3E0"/>
                </a:solidFill>
                <a:latin typeface="Arial"/>
                <a:ea typeface="Arial"/>
                <a:cs typeface="Arial"/>
              </a:rPr>
              <a:t>Avant mise en production</a:t>
            </a:r>
          </a:p>
        </p:txBody>
      </p:sp>
      <p:sp>
        <p:nvSpPr>
          <p:cNvPr id="5" name="text">
            <a:extLst>
              <a:ext uri="{FF2B5EF4-FFF2-40B4-BE49-F238E27FC236}">
                <a16:creationId xmlns:a16="http://schemas.microsoft.com/office/drawing/2014/main" id="{475235E9-918F-4D61-87DB-FB63EFAB5FF7}"/>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FFFFFF"/>
                </a:solidFill>
                <a:latin typeface="Arial"/>
                <a:ea typeface="Arial"/>
                <a:cs typeface="Arial"/>
              </a:defRPr>
            </a:defPPr>
          </a:lstStyle>
          <a:p>
            <a:pPr>
              <a:defRPr sz="2025" b="0">
                <a:solidFill>
                  <a:srgbClr val="FFFFFF"/>
                </a:solidFill>
                <a:latin typeface="Arial"/>
                <a:ea typeface="Arial"/>
                <a:cs typeface="Arial"/>
              </a:defRPr>
            </a:pPr>
            <a:r>
              <a:rPr sz="2025" b="0">
                <a:solidFill>
                  <a:srgbClr val="FFFFFF"/>
                </a:solidFill>
                <a:latin typeface="Arial"/>
                <a:ea typeface="Arial"/>
                <a:cs typeface="Arial"/>
              </a:rPr>
              <a:t>Hébergement, sauvegardes et responsabilité d'exploitation à démontrer.</a:t>
            </a:r>
          </a:p>
        </p:txBody>
      </p:sp>
      <p:sp>
        <p:nvSpPr>
          <p:cNvPr id="6" name="text">
            <a:extLst>
              <a:ext uri="{FF2B5EF4-FFF2-40B4-BE49-F238E27FC236}">
                <a16:creationId xmlns:a16="http://schemas.microsoft.com/office/drawing/2014/main" id="{B07776FF-7A67-487E-A5B2-A67BC20C67C6}"/>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A5D3E0"/>
                </a:solidFill>
                <a:latin typeface="Arial"/>
                <a:ea typeface="Arial"/>
                <a:cs typeface="Arial"/>
              </a:defRPr>
            </a:defPPr>
          </a:lstStyle>
          <a:p>
            <a:pPr>
              <a:defRPr sz="1875" b="1">
                <a:solidFill>
                  <a:srgbClr val="A5D3E0"/>
                </a:solidFill>
                <a:latin typeface="Arial"/>
                <a:ea typeface="Arial"/>
                <a:cs typeface="Arial"/>
              </a:defRPr>
            </a:pPr>
            <a:r>
              <a:rPr sz="1875" b="1">
                <a:solidFill>
                  <a:srgbClr val="A5D3E0"/>
                </a:solidFill>
                <a:latin typeface="Arial"/>
                <a:ea typeface="Arial"/>
                <a:cs typeface="Arial"/>
              </a:rPr>
              <a:t>Pour le pilote</a:t>
            </a:r>
          </a:p>
        </p:txBody>
      </p:sp>
      <p:sp>
        <p:nvSpPr>
          <p:cNvPr id="7" name="text">
            <a:extLst>
              <a:ext uri="{FF2B5EF4-FFF2-40B4-BE49-F238E27FC236}">
                <a16:creationId xmlns:a16="http://schemas.microsoft.com/office/drawing/2014/main" id="{F27015DC-B53D-4EFF-AEF4-92DFF844814F}"/>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FFFFFF"/>
                </a:solidFill>
                <a:latin typeface="Arial"/>
                <a:ea typeface="Arial"/>
                <a:cs typeface="Arial"/>
              </a:defRPr>
            </a:defPPr>
          </a:lstStyle>
          <a:p>
            <a:pPr>
              <a:defRPr sz="2025" b="0">
                <a:solidFill>
                  <a:srgbClr val="FFFFFF"/>
                </a:solidFill>
                <a:latin typeface="Arial"/>
                <a:ea typeface="Arial"/>
                <a:cs typeface="Arial"/>
              </a:defRPr>
            </a:pPr>
            <a:r>
              <a:rPr sz="2025" b="0">
                <a:solidFill>
                  <a:srgbClr val="FFFFFF"/>
                </a:solidFill>
                <a:latin typeface="Arial"/>
                <a:ea typeface="Arial"/>
                <a:cs typeface="Arial"/>
              </a:rPr>
              <a:t>Périmètre restreint, données fictives et risque résiduel documenté.</a:t>
            </a:r>
          </a:p>
        </p:txBody>
      </p:sp>
      <p:sp>
        <p:nvSpPr>
          <p:cNvPr id="8" name="text">
            <a:extLst>
              <a:ext uri="{FF2B5EF4-FFF2-40B4-BE49-F238E27FC236}">
                <a16:creationId xmlns:a16="http://schemas.microsoft.com/office/drawing/2014/main" id="{815EB1CF-2227-409A-94CD-FDB7641AF57B}"/>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A5D3E0"/>
                </a:solidFill>
                <a:latin typeface="Arial"/>
                <a:ea typeface="Arial"/>
                <a:cs typeface="Arial"/>
              </a:defRPr>
            </a:defPPr>
          </a:lstStyle>
          <a:p>
            <a:pPr>
              <a:defRPr sz="1800" b="1">
                <a:solidFill>
                  <a:srgbClr val="A5D3E0"/>
                </a:solidFill>
                <a:latin typeface="Arial"/>
                <a:ea typeface="Arial"/>
                <a:cs typeface="Arial"/>
              </a:defRPr>
            </a:pPr>
            <a:r>
              <a:rPr sz="1800" b="1">
                <a:solidFill>
                  <a:srgbClr val="A5D3E0"/>
                </a:solidFill>
                <a:latin typeface="Arial"/>
                <a:ea typeface="Arial"/>
                <a:cs typeface="Arial"/>
              </a:rPr>
              <a:t>Proposition : passage en production conditionné à des preuves de recette</a:t>
            </a:r>
          </a:p>
        </p:txBody>
      </p:sp>
      <p:sp>
        <p:nvSpPr>
          <p:cNvPr id="9" name="text">
            <a:extLst>
              <a:ext uri="{FF2B5EF4-FFF2-40B4-BE49-F238E27FC236}">
                <a16:creationId xmlns:a16="http://schemas.microsoft.com/office/drawing/2014/main" id="{3CFC1139-3606-4F4F-B22D-A6DEF39BBE31}"/>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A5D3E0"/>
                </a:solidFill>
                <a:latin typeface="Arial"/>
                <a:ea typeface="Arial"/>
                <a:cs typeface="Arial"/>
              </a:defRPr>
            </a:defPPr>
          </a:lstStyle>
          <a:p>
            <a:pPr>
              <a:defRPr sz="1200" b="0">
                <a:solidFill>
                  <a:srgbClr val="A5D3E0"/>
                </a:solidFill>
                <a:latin typeface="Arial"/>
                <a:ea typeface="Arial"/>
                <a:cs typeface="Arial"/>
              </a:defRPr>
            </a:pPr>
            <a:r>
              <a:rPr sz="1200" b="0">
                <a:solidFill>
                  <a:srgbClr val="A5D3E0"/>
                </a:solidFill>
                <a:latin typeface="Arial"/>
                <a:ea typeface="Arial"/>
                <a:cs typeface="Arial"/>
              </a:rPr>
              <a:t>Astreintes · RSSI · 2</a:t>
            </a:r>
          </a:p>
        </p:txBody>
      </p:sp>
    </p:spTree>
    <p:extLst>
      <p:ext uri="{BB962C8B-B14F-4D97-AF65-F5344CB8AC3E}">
        <p14:creationId xmlns:p14="http://schemas.microsoft.com/office/powerpoint/2010/main" val="1989461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2D16F5DD-F164-4CD2-9BBC-3F464998C940}"/>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Périmètre et niveau de preuve</a:t>
            </a:r>
          </a:p>
        </p:txBody>
      </p:sp>
      <p:sp>
        <p:nvSpPr>
          <p:cNvPr id="2" name="text">
            <a:extLst>
              <a:ext uri="{FF2B5EF4-FFF2-40B4-BE49-F238E27FC236}">
                <a16:creationId xmlns:a16="http://schemas.microsoft.com/office/drawing/2014/main" id="{A0265AC8-82C3-41A5-B604-50091F7B14D4}"/>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Sources courantes</a:t>
            </a:r>
          </a:p>
        </p:txBody>
      </p:sp>
      <p:sp>
        <p:nvSpPr>
          <p:cNvPr id="3" name="text">
            <a:extLst>
              <a:ext uri="{FF2B5EF4-FFF2-40B4-BE49-F238E27FC236}">
                <a16:creationId xmlns:a16="http://schemas.microsoft.com/office/drawing/2014/main" id="{83BD87A6-173D-445E-B8F3-266140A3F431}"/>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Code Angular, schéma SQL, migrations, configuration et CI.</a:t>
            </a:r>
          </a:p>
        </p:txBody>
      </p:sp>
      <p:sp>
        <p:nvSpPr>
          <p:cNvPr id="4" name="text">
            <a:extLst>
              <a:ext uri="{FF2B5EF4-FFF2-40B4-BE49-F238E27FC236}">
                <a16:creationId xmlns:a16="http://schemas.microsoft.com/office/drawing/2014/main" id="{E8F8D4B9-F3F0-4B09-B179-3526636F268A}"/>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Constats statiques</a:t>
            </a:r>
          </a:p>
        </p:txBody>
      </p:sp>
      <p:sp>
        <p:nvSpPr>
          <p:cNvPr id="5" name="text">
            <a:extLst>
              <a:ext uri="{FF2B5EF4-FFF2-40B4-BE49-F238E27FC236}">
                <a16:creationId xmlns:a16="http://schemas.microsoft.com/office/drawing/2014/main" id="{1001F26D-7F52-4E3A-852E-DDC7DE67CB6B}"/>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Chemins d'accès et contrôles vérifiés dans le code, sans test d'exploitation.</a:t>
            </a:r>
          </a:p>
        </p:txBody>
      </p:sp>
      <p:sp>
        <p:nvSpPr>
          <p:cNvPr id="6" name="text">
            <a:extLst>
              <a:ext uri="{FF2B5EF4-FFF2-40B4-BE49-F238E27FC236}">
                <a16:creationId xmlns:a16="http://schemas.microsoft.com/office/drawing/2014/main" id="{1B36A1B2-AC8B-4AB1-BCB6-1EC906B6D74A}"/>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Couverture partielle</a:t>
            </a:r>
          </a:p>
        </p:txBody>
      </p:sp>
      <p:sp>
        <p:nvSpPr>
          <p:cNvPr id="7" name="text">
            <a:extLst>
              <a:ext uri="{FF2B5EF4-FFF2-40B4-BE49-F238E27FC236}">
                <a16:creationId xmlns:a16="http://schemas.microsoft.com/office/drawing/2014/main" id="{B309D5EA-F9CF-431D-A70C-5F2B20AC89B1}"/>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44 fichiers entièrement audités sur 224. Production et services externes non vérifiés.</a:t>
            </a:r>
          </a:p>
        </p:txBody>
      </p:sp>
      <p:sp>
        <p:nvSpPr>
          <p:cNvPr id="8" name="text">
            <a:extLst>
              <a:ext uri="{FF2B5EF4-FFF2-40B4-BE49-F238E27FC236}">
                <a16:creationId xmlns:a16="http://schemas.microsoft.com/office/drawing/2014/main" id="{AF887522-8757-4780-80A4-CCE2BD902419}"/>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Cette revue prépare la recette de sécurité et ne vaut pas attestation de conformité</a:t>
            </a:r>
          </a:p>
        </p:txBody>
      </p:sp>
      <p:sp>
        <p:nvSpPr>
          <p:cNvPr id="9" name="text">
            <a:extLst>
              <a:ext uri="{FF2B5EF4-FFF2-40B4-BE49-F238E27FC236}">
                <a16:creationId xmlns:a16="http://schemas.microsoft.com/office/drawing/2014/main" id="{83DFF850-F94F-45B8-9F54-ED59C128635A}"/>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3</a:t>
            </a:r>
          </a:p>
        </p:txBody>
      </p:sp>
    </p:spTree>
    <p:extLst>
      <p:ext uri="{BB962C8B-B14F-4D97-AF65-F5344CB8AC3E}">
        <p14:creationId xmlns:p14="http://schemas.microsoft.com/office/powerpoint/2010/main" val="1936822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87F81C60-58F9-43CA-997B-565CA64AD1A7}"/>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Données et impacts métier</a:t>
            </a:r>
          </a:p>
        </p:txBody>
      </p:sp>
      <p:graphicFrame>
        <p:nvGraphicFramePr>
          <p:cNvPr id="2" name="Tableau 1">
            <a:extLst>
              <a:ext uri="{FF2B5EF4-FFF2-40B4-BE49-F238E27FC236}">
                <a16:creationId xmlns:a16="http://schemas.microsoft.com/office/drawing/2014/main" id="{967E21D1-84AF-4301-BED8-2F334F35A6C4}"/>
              </a:ext>
            </a:extLst>
          </p:cNvPr>
          <p:cNvGraphicFramePr/>
          <p:nvPr/>
        </p:nvGraphicFramePr>
        <p:xfrm>
          <a:off x="685800" y="1809750"/>
          <a:ext cx="10820400" cy="3667125"/>
        </p:xfrm>
        <a:graphic>
          <a:graphicData uri="http://schemas.openxmlformats.org/drawingml/2006/table">
            <a:tbl>
              <a:tblPr/>
              <a:tblGrid>
                <a:gridCol w="4191000">
                  <a:extLst>
                    <a:ext uri="{9D8B030D-6E8A-4147-A177-3AD203B41FA5}">
                      <a16:colId xmlns:a16="http://schemas.microsoft.com/office/drawing/2014/main" val="20000"/>
                    </a:ext>
                  </a:extLst>
                </a:gridCol>
                <a:gridCol w="6629400">
                  <a:extLst>
                    <a:ext uri="{9D8B030D-6E8A-4147-A177-3AD203B41FA5}">
                      <a16:colId xmlns:a16="http://schemas.microsoft.com/office/drawing/2014/main" val="20001"/>
                    </a:ext>
                  </a:extLst>
                </a:gridCol>
              </a:tblGrid>
              <a:tr h="733425">
                <a:tc>
                  <a:txBody>
                    <a:bodyPr/>
                    <a:lstStyle/>
                    <a:p>
                      <a:r>
                        <a:rPr sz="1800" b="1">
                          <a:solidFill>
                            <a:srgbClr val="FFFFFF"/>
                          </a:solidFill>
                          <a:latin typeface="Arial"/>
                          <a:ea typeface="Arial"/>
                          <a:cs typeface="Arial"/>
                        </a:rPr>
                        <a:t>Actif</a:t>
                      </a:r>
                    </a:p>
                  </a:txBody>
                  <a:tcPr anchor="ctr">
                    <a:solidFill>
                      <a:srgbClr val="12304A"/>
                    </a:solidFill>
                  </a:tcPr>
                </a:tc>
                <a:tc>
                  <a:txBody>
                    <a:bodyPr/>
                    <a:lstStyle/>
                    <a:p>
                      <a:r>
                        <a:rPr sz="1800" b="1">
                          <a:solidFill>
                            <a:srgbClr val="FFFFFF"/>
                          </a:solidFill>
                          <a:latin typeface="Arial"/>
                          <a:ea typeface="Arial"/>
                          <a:cs typeface="Arial"/>
                        </a:rPr>
                        <a:t>Risque à maîtriser</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Identités et profils</a:t>
                      </a:r>
                    </a:p>
                  </a:txBody>
                  <a:tcPr anchor="ctr">
                    <a:solidFill>
                      <a:srgbClr val="FFFFFF"/>
                    </a:solidFill>
                  </a:tcPr>
                </a:tc>
                <a:tc>
                  <a:txBody>
                    <a:bodyPr/>
                    <a:lstStyle/>
                    <a:p>
                      <a:r>
                        <a:rPr sz="1800" b="0">
                          <a:solidFill>
                            <a:srgbClr val="193445"/>
                          </a:solidFill>
                          <a:latin typeface="Arial"/>
                          <a:ea typeface="Arial"/>
                          <a:cs typeface="Arial"/>
                        </a:rPr>
                        <a:t>Accès indu et attribution incorrecte</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Plannings et commentaires</a:t>
                      </a:r>
                    </a:p>
                  </a:txBody>
                  <a:tcPr anchor="ctr">
                    <a:solidFill>
                      <a:srgbClr val="EEF3F6"/>
                    </a:solidFill>
                  </a:tcPr>
                </a:tc>
                <a:tc>
                  <a:txBody>
                    <a:bodyPr/>
                    <a:lstStyle/>
                    <a:p>
                      <a:r>
                        <a:rPr sz="1800" b="0">
                          <a:solidFill>
                            <a:srgbClr val="193445"/>
                          </a:solidFill>
                          <a:latin typeface="Arial"/>
                          <a:ea typeface="Arial"/>
                          <a:cs typeface="Arial"/>
                        </a:rPr>
                        <a:t>Divulgation de l'activité des agents</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Heures et règles calendaires</a:t>
                      </a:r>
                    </a:p>
                  </a:txBody>
                  <a:tcPr anchor="ctr">
                    <a:solidFill>
                      <a:srgbClr val="FFFFFF"/>
                    </a:solidFill>
                  </a:tcPr>
                </a:tc>
                <a:tc>
                  <a:txBody>
                    <a:bodyPr/>
                    <a:lstStyle/>
                    <a:p>
                      <a:r>
                        <a:rPr sz="1800" b="0">
                          <a:solidFill>
                            <a:srgbClr val="193445"/>
                          </a:solidFill>
                          <a:latin typeface="Arial"/>
                          <a:ea typeface="Arial"/>
                          <a:cs typeface="Arial"/>
                        </a:rPr>
                        <a:t>Calculs RH incohérents ou modifiés</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Visas et exports</a:t>
                      </a:r>
                    </a:p>
                  </a:txBody>
                  <a:tcPr anchor="ctr">
                    <a:solidFill>
                      <a:srgbClr val="EEF3F6"/>
                    </a:solidFill>
                  </a:tcPr>
                </a:tc>
                <a:tc>
                  <a:txBody>
                    <a:bodyPr/>
                    <a:lstStyle/>
                    <a:p>
                      <a:r>
                        <a:rPr sz="1800" b="0">
                          <a:solidFill>
                            <a:srgbClr val="193445"/>
                          </a:solidFill>
                          <a:latin typeface="Arial"/>
                          <a:ea typeface="Arial"/>
                          <a:cs typeface="Arial"/>
                        </a:rPr>
                        <a:t>Workflow trompeur et copies non maîtrisées</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A254D34C-3C00-487A-BEC7-C3E87EE8B643}"/>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Confidentialité, intégrité et disponibilité concernent des usages différents</a:t>
            </a:r>
          </a:p>
        </p:txBody>
      </p:sp>
      <p:sp>
        <p:nvSpPr>
          <p:cNvPr id="4" name="text">
            <a:extLst>
              <a:ext uri="{FF2B5EF4-FFF2-40B4-BE49-F238E27FC236}">
                <a16:creationId xmlns:a16="http://schemas.microsoft.com/office/drawing/2014/main" id="{F7F0F2B2-5A7A-4624-A1FA-60F11ECF4B85}"/>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4</a:t>
            </a:r>
          </a:p>
        </p:txBody>
      </p:sp>
    </p:spTree>
    <p:extLst>
      <p:ext uri="{BB962C8B-B14F-4D97-AF65-F5344CB8AC3E}">
        <p14:creationId xmlns:p14="http://schemas.microsoft.com/office/powerpoint/2010/main" val="228768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4B4AFE05-E237-44B5-A9CB-BD65BDC2351B}"/>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Architecture et flux réels</a:t>
            </a:r>
          </a:p>
        </p:txBody>
      </p:sp>
      <p:graphicFrame>
        <p:nvGraphicFramePr>
          <p:cNvPr id="2" name="Tableau 1">
            <a:extLst>
              <a:ext uri="{FF2B5EF4-FFF2-40B4-BE49-F238E27FC236}">
                <a16:creationId xmlns:a16="http://schemas.microsoft.com/office/drawing/2014/main" id="{09AF8B31-F51A-4043-9E12-96C9C16EE3A4}"/>
              </a:ext>
            </a:extLst>
          </p:cNvPr>
          <p:cNvGraphicFramePr/>
          <p:nvPr/>
        </p:nvGraphicFramePr>
        <p:xfrm>
          <a:off x="685800" y="1809750"/>
          <a:ext cx="10820400" cy="3667125"/>
        </p:xfrm>
        <a:graphic>
          <a:graphicData uri="http://schemas.openxmlformats.org/drawingml/2006/table">
            <a:tbl>
              <a:tblPr/>
              <a:tblGrid>
                <a:gridCol w="4333875">
                  <a:extLst>
                    <a:ext uri="{9D8B030D-6E8A-4147-A177-3AD203B41FA5}">
                      <a16:colId xmlns:a16="http://schemas.microsoft.com/office/drawing/2014/main" val="20000"/>
                    </a:ext>
                  </a:extLst>
                </a:gridCol>
                <a:gridCol w="6486525">
                  <a:extLst>
                    <a:ext uri="{9D8B030D-6E8A-4147-A177-3AD203B41FA5}">
                      <a16:colId xmlns:a16="http://schemas.microsoft.com/office/drawing/2014/main" val="20001"/>
                    </a:ext>
                  </a:extLst>
                </a:gridCol>
              </a:tblGrid>
              <a:tr h="733425">
                <a:tc>
                  <a:txBody>
                    <a:bodyPr/>
                    <a:lstStyle/>
                    <a:p>
                      <a:r>
                        <a:rPr sz="1800" b="1">
                          <a:solidFill>
                            <a:srgbClr val="FFFFFF"/>
                          </a:solidFill>
                          <a:latin typeface="Arial"/>
                          <a:ea typeface="Arial"/>
                          <a:cs typeface="Arial"/>
                        </a:rPr>
                        <a:t>Composant</a:t>
                      </a:r>
                    </a:p>
                  </a:txBody>
                  <a:tcPr anchor="ctr">
                    <a:solidFill>
                      <a:srgbClr val="12304A"/>
                    </a:solidFill>
                  </a:tcPr>
                </a:tc>
                <a:tc>
                  <a:txBody>
                    <a:bodyPr/>
                    <a:lstStyle/>
                    <a:p>
                      <a:r>
                        <a:rPr sz="1800" b="1">
                          <a:solidFill>
                            <a:srgbClr val="FFFFFF"/>
                          </a:solidFill>
                          <a:latin typeface="Arial"/>
                          <a:ea typeface="Arial"/>
                          <a:cs typeface="Arial"/>
                        </a:rPr>
                        <a:t>Flux et responsabilité</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Navigateur Angular / NgRx</a:t>
                      </a:r>
                    </a:p>
                  </a:txBody>
                  <a:tcPr anchor="ctr">
                    <a:solidFill>
                      <a:srgbClr val="FFFFFF"/>
                    </a:solidFill>
                  </a:tcPr>
                </a:tc>
                <a:tc>
                  <a:txBody>
                    <a:bodyPr/>
                    <a:lstStyle/>
                    <a:p>
                      <a:r>
                        <a:rPr sz="1800" b="0">
                          <a:solidFill>
                            <a:srgbClr val="193445"/>
                          </a:solidFill>
                          <a:latin typeface="Arial"/>
                          <a:ea typeface="Arial"/>
                          <a:cs typeface="Arial"/>
                        </a:rPr>
                        <a:t>Sessions, formulaires, calculs et exports</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Nginx dans Docker</a:t>
                      </a:r>
                    </a:p>
                  </a:txBody>
                  <a:tcPr anchor="ctr">
                    <a:solidFill>
                      <a:srgbClr val="EEF3F6"/>
                    </a:solidFill>
                  </a:tcPr>
                </a:tc>
                <a:tc>
                  <a:txBody>
                    <a:bodyPr/>
                    <a:lstStyle/>
                    <a:p>
                      <a:r>
                        <a:rPr sz="1800" b="0">
                          <a:solidFill>
                            <a:srgbClr val="193445"/>
                          </a:solidFill>
                          <a:latin typeface="Arial"/>
                          <a:ea typeface="Arial"/>
                          <a:cs typeface="Arial"/>
                        </a:rPr>
                        <a:t>Fichiers statiques et gateway /supabase</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Supabase Auth / API / Realtime</a:t>
                      </a:r>
                    </a:p>
                  </a:txBody>
                  <a:tcPr anchor="ctr">
                    <a:solidFill>
                      <a:srgbClr val="FFFFFF"/>
                    </a:solidFill>
                  </a:tcPr>
                </a:tc>
                <a:tc>
                  <a:txBody>
                    <a:bodyPr/>
                    <a:lstStyle/>
                    <a:p>
                      <a:r>
                        <a:rPr sz="1800" b="0">
                          <a:solidFill>
                            <a:srgbClr val="193445"/>
                          </a:solidFill>
                          <a:latin typeface="Arial"/>
                          <a:ea typeface="Arial"/>
                          <a:cs typeface="Arial"/>
                        </a:rPr>
                        <a:t>Identité, requêtes et notifications</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PostgreSQL</a:t>
                      </a:r>
                    </a:p>
                  </a:txBody>
                  <a:tcPr anchor="ctr">
                    <a:solidFill>
                      <a:srgbClr val="EEF3F6"/>
                    </a:solidFill>
                  </a:tcPr>
                </a:tc>
                <a:tc>
                  <a:txBody>
                    <a:bodyPr/>
                    <a:lstStyle/>
                    <a:p>
                      <a:r>
                        <a:rPr sz="1800" b="0">
                          <a:solidFill>
                            <a:srgbClr val="193445"/>
                          </a:solidFill>
                          <a:latin typeface="Arial"/>
                          <a:ea typeface="Arial"/>
                          <a:cs typeface="Arial"/>
                        </a:rPr>
                        <a:t>Droits, RLS, contraintes et triggers</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A2FB5D5B-790D-4C84-B0A9-430FDA99A032}"/>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Le navigateur appelle Supabase directement. SQL porte les autorisations métier</a:t>
            </a:r>
          </a:p>
        </p:txBody>
      </p:sp>
      <p:sp>
        <p:nvSpPr>
          <p:cNvPr id="4" name="text">
            <a:extLst>
              <a:ext uri="{FF2B5EF4-FFF2-40B4-BE49-F238E27FC236}">
                <a16:creationId xmlns:a16="http://schemas.microsoft.com/office/drawing/2014/main" id="{DCC084D4-2852-4835-AACA-931AEF0CF9A8}"/>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5</a:t>
            </a:r>
          </a:p>
        </p:txBody>
      </p:sp>
    </p:spTree>
    <p:extLst>
      <p:ext uri="{BB962C8B-B14F-4D97-AF65-F5344CB8AC3E}">
        <p14:creationId xmlns:p14="http://schemas.microsoft.com/office/powerpoint/2010/main" val="159572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F8CB5796-BFB9-4A87-A428-58629CB0587B}"/>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Frontières de confiance</a:t>
            </a:r>
          </a:p>
        </p:txBody>
      </p:sp>
      <p:sp>
        <p:nvSpPr>
          <p:cNvPr id="2" name="text">
            <a:extLst>
              <a:ext uri="{FF2B5EF4-FFF2-40B4-BE49-F238E27FC236}">
                <a16:creationId xmlns:a16="http://schemas.microsoft.com/office/drawing/2014/main" id="{6709CAF7-12DA-4690-9CC0-6AA9630184DB}"/>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Navigateur</a:t>
            </a:r>
          </a:p>
        </p:txBody>
      </p:sp>
      <p:sp>
        <p:nvSpPr>
          <p:cNvPr id="3" name="text">
            <a:extLst>
              <a:ext uri="{FF2B5EF4-FFF2-40B4-BE49-F238E27FC236}">
                <a16:creationId xmlns:a16="http://schemas.microsoft.com/office/drawing/2014/main" id="{399E9619-157D-48CA-8868-4B2A37242736}"/>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Un utilisateur peut appeler l'API en dehors des écrans et des boutons.</a:t>
            </a:r>
          </a:p>
        </p:txBody>
      </p:sp>
      <p:sp>
        <p:nvSpPr>
          <p:cNvPr id="4" name="text">
            <a:extLst>
              <a:ext uri="{FF2B5EF4-FFF2-40B4-BE49-F238E27FC236}">
                <a16:creationId xmlns:a16="http://schemas.microsoft.com/office/drawing/2014/main" id="{080F1901-7214-462D-9FEF-EFDC738C4977}"/>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Authentification</a:t>
            </a:r>
          </a:p>
        </p:txBody>
      </p:sp>
      <p:sp>
        <p:nvSpPr>
          <p:cNvPr id="5" name="text">
            <a:extLst>
              <a:ext uri="{FF2B5EF4-FFF2-40B4-BE49-F238E27FC236}">
                <a16:creationId xmlns:a16="http://schemas.microsoft.com/office/drawing/2014/main" id="{96780551-FF14-451E-BD73-A895BFE56047}"/>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Un compte valide doit aussi appartenir à l'audience autorisée.</a:t>
            </a:r>
          </a:p>
        </p:txBody>
      </p:sp>
      <p:sp>
        <p:nvSpPr>
          <p:cNvPr id="6" name="text">
            <a:extLst>
              <a:ext uri="{FF2B5EF4-FFF2-40B4-BE49-F238E27FC236}">
                <a16:creationId xmlns:a16="http://schemas.microsoft.com/office/drawing/2014/main" id="{B032E942-BF80-4C6D-9669-58068115CDF7}"/>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Autorisation SQL</a:t>
            </a:r>
          </a:p>
        </p:txBody>
      </p:sp>
      <p:sp>
        <p:nvSpPr>
          <p:cNvPr id="7" name="text">
            <a:extLst>
              <a:ext uri="{FF2B5EF4-FFF2-40B4-BE49-F238E27FC236}">
                <a16:creationId xmlns:a16="http://schemas.microsoft.com/office/drawing/2014/main" id="{12DD1A83-9224-4370-B195-F1B232A671AF}"/>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Chaque lecture, mutation et transition doit vérifier sa propre règle.</a:t>
            </a:r>
          </a:p>
        </p:txBody>
      </p:sp>
      <p:sp>
        <p:nvSpPr>
          <p:cNvPr id="8" name="text">
            <a:extLst>
              <a:ext uri="{FF2B5EF4-FFF2-40B4-BE49-F238E27FC236}">
                <a16:creationId xmlns:a16="http://schemas.microsoft.com/office/drawing/2014/main" id="{6B087D15-A019-4447-A253-DB70DE292A89}"/>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Même origine et utilisateur connecté ne garantissent pas le bon périmètre</a:t>
            </a:r>
          </a:p>
        </p:txBody>
      </p:sp>
      <p:sp>
        <p:nvSpPr>
          <p:cNvPr id="9" name="text">
            <a:extLst>
              <a:ext uri="{FF2B5EF4-FFF2-40B4-BE49-F238E27FC236}">
                <a16:creationId xmlns:a16="http://schemas.microsoft.com/office/drawing/2014/main" id="{2E551424-37C9-48D4-8A25-11F8D2DEE6EA}"/>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6</a:t>
            </a:r>
          </a:p>
        </p:txBody>
      </p:sp>
    </p:spTree>
    <p:extLst>
      <p:ext uri="{BB962C8B-B14F-4D97-AF65-F5344CB8AC3E}">
        <p14:creationId xmlns:p14="http://schemas.microsoft.com/office/powerpoint/2010/main" val="1306076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5FA9BC8D-ED0A-43FF-9E48-91A12B2271F7}"/>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Rôles métier et séparation des fonctions</a:t>
            </a:r>
          </a:p>
        </p:txBody>
      </p:sp>
      <p:graphicFrame>
        <p:nvGraphicFramePr>
          <p:cNvPr id="2" name="Tableau 1">
            <a:extLst>
              <a:ext uri="{FF2B5EF4-FFF2-40B4-BE49-F238E27FC236}">
                <a16:creationId xmlns:a16="http://schemas.microsoft.com/office/drawing/2014/main" id="{00AA2133-1924-46D3-A33A-B455DD1B2679}"/>
              </a:ext>
            </a:extLst>
          </p:cNvPr>
          <p:cNvGraphicFramePr/>
          <p:nvPr/>
        </p:nvGraphicFramePr>
        <p:xfrm>
          <a:off x="685800" y="1809750"/>
          <a:ext cx="10820400" cy="3667125"/>
        </p:xfrm>
        <a:graphic>
          <a:graphicData uri="http://schemas.openxmlformats.org/drawingml/2006/table">
            <a:tbl>
              <a:tblPr/>
              <a:tblGrid>
                <a:gridCol w="3810000">
                  <a:extLst>
                    <a:ext uri="{9D8B030D-6E8A-4147-A177-3AD203B41FA5}">
                      <a16:colId xmlns:a16="http://schemas.microsoft.com/office/drawing/2014/main" val="20000"/>
                    </a:ext>
                  </a:extLst>
                </a:gridCol>
                <a:gridCol w="7010400">
                  <a:extLst>
                    <a:ext uri="{9D8B030D-6E8A-4147-A177-3AD203B41FA5}">
                      <a16:colId xmlns:a16="http://schemas.microsoft.com/office/drawing/2014/main" val="20001"/>
                    </a:ext>
                  </a:extLst>
                </a:gridCol>
              </a:tblGrid>
              <a:tr h="733425">
                <a:tc>
                  <a:txBody>
                    <a:bodyPr/>
                    <a:lstStyle/>
                    <a:p>
                      <a:r>
                        <a:rPr sz="1800" b="1">
                          <a:solidFill>
                            <a:srgbClr val="FFFFFF"/>
                          </a:solidFill>
                          <a:latin typeface="Arial"/>
                          <a:ea typeface="Arial"/>
                          <a:cs typeface="Arial"/>
                        </a:rPr>
                        <a:t>Profil</a:t>
                      </a:r>
                    </a:p>
                  </a:txBody>
                  <a:tcPr anchor="ctr">
                    <a:solidFill>
                      <a:srgbClr val="12304A"/>
                    </a:solidFill>
                  </a:tcPr>
                </a:tc>
                <a:tc>
                  <a:txBody>
                    <a:bodyPr/>
                    <a:lstStyle/>
                    <a:p>
                      <a:r>
                        <a:rPr sz="1800" b="1">
                          <a:solidFill>
                            <a:srgbClr val="FFFFFF"/>
                          </a:solidFill>
                          <a:latin typeface="Arial"/>
                          <a:ea typeface="Arial"/>
                          <a:cs typeface="Arial"/>
                        </a:rPr>
                        <a:t>Droits attendus principaux</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Utilisateur</a:t>
                      </a:r>
                    </a:p>
                  </a:txBody>
                  <a:tcPr anchor="ctr">
                    <a:solidFill>
                      <a:srgbClr val="FFFFFF"/>
                    </a:solidFill>
                  </a:tcPr>
                </a:tc>
                <a:tc>
                  <a:txBody>
                    <a:bodyPr/>
                    <a:lstStyle/>
                    <a:p>
                      <a:r>
                        <a:rPr sz="1800" b="0">
                          <a:solidFill>
                            <a:srgbClr val="193445"/>
                          </a:solidFill>
                          <a:latin typeface="Arial"/>
                          <a:ea typeface="Arial"/>
                          <a:cs typeface="Arial"/>
                        </a:rPr>
                        <a:t>Ses interventions et ses lignes de visa</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Initiateur</a:t>
                      </a:r>
                    </a:p>
                  </a:txBody>
                  <a:tcPr anchor="ctr">
                    <a:solidFill>
                      <a:srgbClr val="EEF3F6"/>
                    </a:solidFill>
                  </a:tcPr>
                </a:tc>
                <a:tc>
                  <a:txBody>
                    <a:bodyPr/>
                    <a:lstStyle/>
                    <a:p>
                      <a:r>
                        <a:rPr sz="1800" b="0">
                          <a:solidFill>
                            <a:srgbClr val="193445"/>
                          </a:solidFill>
                          <a:latin typeface="Arial"/>
                          <a:ea typeface="Arial"/>
                          <a:cs typeface="Arial"/>
                        </a:rPr>
                        <a:t>Planning régulier et ses opérations</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Directeur / RH</a:t>
                      </a:r>
                    </a:p>
                  </a:txBody>
                  <a:tcPr anchor="ctr">
                    <a:solidFill>
                      <a:srgbClr val="FFFFFF"/>
                    </a:solidFill>
                  </a:tcPr>
                </a:tc>
                <a:tc>
                  <a:txBody>
                    <a:bodyPr/>
                    <a:lstStyle/>
                    <a:p>
                      <a:r>
                        <a:rPr sz="1800" b="0">
                          <a:solidFill>
                            <a:srgbClr val="193445"/>
                          </a:solidFill>
                          <a:latin typeface="Arial"/>
                          <a:ea typeface="Arial"/>
                          <a:cs typeface="Arial"/>
                        </a:rPr>
                        <a:t>Vision globale, approbation et exports</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Administrateur</a:t>
                      </a:r>
                    </a:p>
                  </a:txBody>
                  <a:tcPr anchor="ctr">
                    <a:solidFill>
                      <a:srgbClr val="EEF3F6"/>
                    </a:solidFill>
                  </a:tcPr>
                </a:tc>
                <a:tc>
                  <a:txBody>
                    <a:bodyPr/>
                    <a:lstStyle/>
                    <a:p>
                      <a:r>
                        <a:rPr sz="1800" b="0">
                          <a:solidFill>
                            <a:srgbClr val="193445"/>
                          </a:solidFill>
                          <a:latin typeface="Arial"/>
                          <a:ea typeface="Arial"/>
                          <a:cs typeface="Arial"/>
                        </a:rPr>
                        <a:t>Rôles, profils et coefficients RH</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24FB8622-74BC-4537-9373-3FD73CA3937C}"/>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La parité Directeur / RH et la substitution administrative nécessitent un accord métier</a:t>
            </a:r>
          </a:p>
        </p:txBody>
      </p:sp>
      <p:sp>
        <p:nvSpPr>
          <p:cNvPr id="4" name="text">
            <a:extLst>
              <a:ext uri="{FF2B5EF4-FFF2-40B4-BE49-F238E27FC236}">
                <a16:creationId xmlns:a16="http://schemas.microsoft.com/office/drawing/2014/main" id="{7741903B-CC2C-4C42-9C51-245592D95B9B}"/>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7</a:t>
            </a:r>
          </a:p>
        </p:txBody>
      </p:sp>
    </p:spTree>
    <p:extLst>
      <p:ext uri="{BB962C8B-B14F-4D97-AF65-F5344CB8AC3E}">
        <p14:creationId xmlns:p14="http://schemas.microsoft.com/office/powerpoint/2010/main" val="2115590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AE13C544-025E-4400-BC4B-D2FB58ED805D}"/>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Mesures déjà présentes</a:t>
            </a:r>
          </a:p>
        </p:txBody>
      </p:sp>
      <p:sp>
        <p:nvSpPr>
          <p:cNvPr id="2" name="text">
            <a:extLst>
              <a:ext uri="{FF2B5EF4-FFF2-40B4-BE49-F238E27FC236}">
                <a16:creationId xmlns:a16="http://schemas.microsoft.com/office/drawing/2014/main" id="{865F3301-046D-41DB-8405-09B4F2E241BA}"/>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Droits SQL</a:t>
            </a:r>
          </a:p>
        </p:txBody>
      </p:sp>
      <p:sp>
        <p:nvSpPr>
          <p:cNvPr id="3" name="text">
            <a:extLst>
              <a:ext uri="{FF2B5EF4-FFF2-40B4-BE49-F238E27FC236}">
                <a16:creationId xmlns:a16="http://schemas.microsoft.com/office/drawing/2014/main" id="{4533D978-12AE-48CE-8529-0B70648923C8}"/>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Rôles et identités protégés. Planning, ownership et coefficients encadrés.</a:t>
            </a:r>
          </a:p>
        </p:txBody>
      </p:sp>
      <p:sp>
        <p:nvSpPr>
          <p:cNvPr id="4" name="text">
            <a:extLst>
              <a:ext uri="{FF2B5EF4-FFF2-40B4-BE49-F238E27FC236}">
                <a16:creationId xmlns:a16="http://schemas.microsoft.com/office/drawing/2014/main" id="{1AFF14A8-EA71-49DE-9F35-0B52F07AAF75}"/>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Développement</a:t>
            </a:r>
          </a:p>
        </p:txBody>
      </p:sp>
      <p:sp>
        <p:nvSpPr>
          <p:cNvPr id="5" name="text">
            <a:extLst>
              <a:ext uri="{FF2B5EF4-FFF2-40B4-BE49-F238E27FC236}">
                <a16:creationId xmlns:a16="http://schemas.microsoft.com/office/drawing/2014/main" id="{02A57CEA-28C8-4F92-9477-FD1E7076E961}"/>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Lockfile, npm ci, audit npm, tests Jest et tests SQL disponibles.</a:t>
            </a:r>
          </a:p>
        </p:txBody>
      </p:sp>
      <p:sp>
        <p:nvSpPr>
          <p:cNvPr id="6" name="text">
            <a:extLst>
              <a:ext uri="{FF2B5EF4-FFF2-40B4-BE49-F238E27FC236}">
                <a16:creationId xmlns:a16="http://schemas.microsoft.com/office/drawing/2014/main" id="{0A0DF717-54F7-43CA-ABC3-5E68FA4C25CB}"/>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Déploiement</a:t>
            </a:r>
          </a:p>
        </p:txBody>
      </p:sp>
      <p:sp>
        <p:nvSpPr>
          <p:cNvPr id="7" name="text">
            <a:extLst>
              <a:ext uri="{FF2B5EF4-FFF2-40B4-BE49-F238E27FC236}">
                <a16:creationId xmlns:a16="http://schemas.microsoft.com/office/drawing/2014/main" id="{F6136315-5F68-4AA0-AA41-6D7FD80F2624}"/>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Nginx non root. Clé publique anon distincte des privilèges serveur.</a:t>
            </a:r>
          </a:p>
        </p:txBody>
      </p:sp>
      <p:sp>
        <p:nvSpPr>
          <p:cNvPr id="8" name="text">
            <a:extLst>
              <a:ext uri="{FF2B5EF4-FFF2-40B4-BE49-F238E27FC236}">
                <a16:creationId xmlns:a16="http://schemas.microsoft.com/office/drawing/2014/main" id="{F8F788E7-D81B-4053-87D7-4D771EF796F5}"/>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Une correction dans le dépôt reste à vérifier dans la base déployée</a:t>
            </a:r>
          </a:p>
        </p:txBody>
      </p:sp>
      <p:sp>
        <p:nvSpPr>
          <p:cNvPr id="9" name="text">
            <a:extLst>
              <a:ext uri="{FF2B5EF4-FFF2-40B4-BE49-F238E27FC236}">
                <a16:creationId xmlns:a16="http://schemas.microsoft.com/office/drawing/2014/main" id="{D4A32992-F7AD-4903-8C38-F814E3BD71EC}"/>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8</a:t>
            </a:r>
          </a:p>
        </p:txBody>
      </p:sp>
    </p:spTree>
    <p:extLst>
      <p:ext uri="{BB962C8B-B14F-4D97-AF65-F5344CB8AC3E}">
        <p14:creationId xmlns:p14="http://schemas.microsoft.com/office/powerpoint/2010/main" val="76794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082B1188-86EF-4EAA-BD32-086AA42ED51F}"/>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Quatre constats à traiter avant production</a:t>
            </a:r>
          </a:p>
        </p:txBody>
      </p:sp>
      <p:graphicFrame>
        <p:nvGraphicFramePr>
          <p:cNvPr id="2" name="Tableau 1">
            <a:extLst>
              <a:ext uri="{FF2B5EF4-FFF2-40B4-BE49-F238E27FC236}">
                <a16:creationId xmlns:a16="http://schemas.microsoft.com/office/drawing/2014/main" id="{AB9F74FB-03E0-412A-A96B-E48E458EF33E}"/>
              </a:ext>
            </a:extLst>
          </p:cNvPr>
          <p:cNvGraphicFramePr/>
          <p:nvPr/>
        </p:nvGraphicFramePr>
        <p:xfrm>
          <a:off x="685800" y="1809750"/>
          <a:ext cx="10820400" cy="3667125"/>
        </p:xfrm>
        <a:graphic>
          <a:graphicData uri="http://schemas.openxmlformats.org/drawingml/2006/table">
            <a:tbl>
              <a:tblPr/>
              <a:tblGrid>
                <a:gridCol w="452437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tblGrid>
              <a:tr h="733425">
                <a:tc>
                  <a:txBody>
                    <a:bodyPr/>
                    <a:lstStyle/>
                    <a:p>
                      <a:r>
                        <a:rPr sz="1800" b="1">
                          <a:solidFill>
                            <a:srgbClr val="FFFFFF"/>
                          </a:solidFill>
                          <a:latin typeface="Arial"/>
                          <a:ea typeface="Arial"/>
                          <a:cs typeface="Arial"/>
                        </a:rPr>
                        <a:t>Constat</a:t>
                      </a:r>
                    </a:p>
                  </a:txBody>
                  <a:tcPr anchor="ctr">
                    <a:solidFill>
                      <a:srgbClr val="12304A"/>
                    </a:solidFill>
                  </a:tcPr>
                </a:tc>
                <a:tc>
                  <a:txBody>
                    <a:bodyPr/>
                    <a:lstStyle/>
                    <a:p>
                      <a:r>
                        <a:rPr sz="1800" b="1">
                          <a:solidFill>
                            <a:srgbClr val="FFFFFF"/>
                          </a:solidFill>
                          <a:latin typeface="Arial"/>
                          <a:ea typeface="Arial"/>
                          <a:cs typeface="Arial"/>
                        </a:rPr>
                        <a:t>Impact principal</a:t>
                      </a:r>
                    </a:p>
                  </a:txBody>
                  <a:tcPr anchor="ctr">
                    <a:solidFill>
                      <a:srgbClr val="12304A"/>
                    </a:solidFill>
                  </a:tcPr>
                </a:tc>
                <a:tc>
                  <a:txBody>
                    <a:bodyPr/>
                    <a:lstStyle/>
                    <a:p>
                      <a:r>
                        <a:rPr sz="1800" b="1">
                          <a:solidFill>
                            <a:srgbClr val="FFFFFF"/>
                          </a:solidFill>
                          <a:latin typeface="Arial"/>
                          <a:ea typeface="Arial"/>
                          <a:cs typeface="Arial"/>
                        </a:rPr>
                        <a:t>Priorité</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R1 · Lectures hors périmètre</a:t>
                      </a:r>
                    </a:p>
                  </a:txBody>
                  <a:tcPr anchor="ctr">
                    <a:solidFill>
                      <a:srgbClr val="FFFFFF"/>
                    </a:solidFill>
                  </a:tcPr>
                </a:tc>
                <a:tc>
                  <a:txBody>
                    <a:bodyPr/>
                    <a:lstStyle/>
                    <a:p>
                      <a:r>
                        <a:rPr sz="1800" b="0">
                          <a:solidFill>
                            <a:srgbClr val="193445"/>
                          </a:solidFill>
                          <a:latin typeface="Arial"/>
                          <a:ea typeface="Arial"/>
                          <a:cs typeface="Arial"/>
                        </a:rPr>
                        <a:t>Confidentialité des activités</a:t>
                      </a:r>
                    </a:p>
                  </a:txBody>
                  <a:tcPr anchor="ctr">
                    <a:solidFill>
                      <a:srgbClr val="FFFFFF"/>
                    </a:solidFill>
                  </a:tcPr>
                </a:tc>
                <a:tc>
                  <a:txBody>
                    <a:bodyPr/>
                    <a:lstStyle/>
                    <a:p>
                      <a:r>
                        <a:rPr sz="1800" b="0">
                          <a:solidFill>
                            <a:srgbClr val="193445"/>
                          </a:solidFill>
                          <a:latin typeface="Arial"/>
                          <a:ea typeface="Arial"/>
                          <a:cs typeface="Arial"/>
                        </a:rPr>
                        <a:t>Avant données réelles</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R2 · Statuts de visas falsifiables</a:t>
                      </a:r>
                    </a:p>
                  </a:txBody>
                  <a:tcPr anchor="ctr">
                    <a:solidFill>
                      <a:srgbClr val="EEF3F6"/>
                    </a:solidFill>
                  </a:tcPr>
                </a:tc>
                <a:tc>
                  <a:txBody>
                    <a:bodyPr/>
                    <a:lstStyle/>
                    <a:p>
                      <a:r>
                        <a:rPr sz="1800" b="0">
                          <a:solidFill>
                            <a:srgbClr val="193445"/>
                          </a:solidFill>
                          <a:latin typeface="Arial"/>
                          <a:ea typeface="Arial"/>
                          <a:cs typeface="Arial"/>
                        </a:rPr>
                        <a:t>Intégrité du workflow</a:t>
                      </a:r>
                    </a:p>
                  </a:txBody>
                  <a:tcPr anchor="ctr">
                    <a:solidFill>
                      <a:srgbClr val="EEF3F6"/>
                    </a:solidFill>
                  </a:tcPr>
                </a:tc>
                <a:tc>
                  <a:txBody>
                    <a:bodyPr/>
                    <a:lstStyle/>
                    <a:p>
                      <a:r>
                        <a:rPr sz="1800" b="0">
                          <a:solidFill>
                            <a:srgbClr val="193445"/>
                          </a:solidFill>
                          <a:latin typeface="Arial"/>
                          <a:ea typeface="Arial"/>
                          <a:cs typeface="Arial"/>
                        </a:rPr>
                        <a:t>Avant données réelles</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R3 · Enfants modifiables après envoi</a:t>
                      </a:r>
                    </a:p>
                  </a:txBody>
                  <a:tcPr anchor="ctr">
                    <a:solidFill>
                      <a:srgbClr val="FFFFFF"/>
                    </a:solidFill>
                  </a:tcPr>
                </a:tc>
                <a:tc>
                  <a:txBody>
                    <a:bodyPr/>
                    <a:lstStyle/>
                    <a:p>
                      <a:r>
                        <a:rPr sz="1800" b="0">
                          <a:solidFill>
                            <a:srgbClr val="193445"/>
                          </a:solidFill>
                          <a:latin typeface="Arial"/>
                          <a:ea typeface="Arial"/>
                          <a:cs typeface="Arial"/>
                        </a:rPr>
                        <a:t>Fiabilité des heures RH</a:t>
                      </a:r>
                    </a:p>
                  </a:txBody>
                  <a:tcPr anchor="ctr">
                    <a:solidFill>
                      <a:srgbClr val="FFFFFF"/>
                    </a:solidFill>
                  </a:tcPr>
                </a:tc>
                <a:tc>
                  <a:txBody>
                    <a:bodyPr/>
                    <a:lstStyle/>
                    <a:p>
                      <a:r>
                        <a:rPr sz="1800" b="0">
                          <a:solidFill>
                            <a:srgbClr val="193445"/>
                          </a:solidFill>
                          <a:latin typeface="Arial"/>
                          <a:ea typeface="Arial"/>
                          <a:cs typeface="Arial"/>
                        </a:rPr>
                        <a:t>Avant données réelles</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R4 · Calendrier trop ouvert</a:t>
                      </a:r>
                    </a:p>
                  </a:txBody>
                  <a:tcPr anchor="ctr">
                    <a:solidFill>
                      <a:srgbClr val="EEF3F6"/>
                    </a:solidFill>
                  </a:tcPr>
                </a:tc>
                <a:tc>
                  <a:txBody>
                    <a:bodyPr/>
                    <a:lstStyle/>
                    <a:p>
                      <a:r>
                        <a:rPr sz="1800" b="0">
                          <a:solidFill>
                            <a:srgbClr val="193445"/>
                          </a:solidFill>
                          <a:latin typeface="Arial"/>
                          <a:ea typeface="Arial"/>
                          <a:cs typeface="Arial"/>
                        </a:rPr>
                        <a:t>Intégrité des calculs</a:t>
                      </a:r>
                    </a:p>
                  </a:txBody>
                  <a:tcPr anchor="ctr">
                    <a:solidFill>
                      <a:srgbClr val="EEF3F6"/>
                    </a:solidFill>
                  </a:tcPr>
                </a:tc>
                <a:tc>
                  <a:txBody>
                    <a:bodyPr/>
                    <a:lstStyle/>
                    <a:p>
                      <a:r>
                        <a:rPr sz="1800" b="0">
                          <a:solidFill>
                            <a:srgbClr val="193445"/>
                          </a:solidFill>
                          <a:latin typeface="Arial"/>
                          <a:ea typeface="Arial"/>
                          <a:cs typeface="Arial"/>
                        </a:rPr>
                        <a:t>Avant données réelles</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D7D0C1B8-60A4-447A-B5B8-5422CA34B0F1}"/>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Gravité modérée, confiance élevée sur le code. Exposition effective non vérifiée</a:t>
            </a:r>
          </a:p>
        </p:txBody>
      </p:sp>
      <p:sp>
        <p:nvSpPr>
          <p:cNvPr id="4" name="text">
            <a:extLst>
              <a:ext uri="{FF2B5EF4-FFF2-40B4-BE49-F238E27FC236}">
                <a16:creationId xmlns:a16="http://schemas.microsoft.com/office/drawing/2014/main" id="{9D66978A-7C84-4F4F-AE45-7D2D8D7B72CA}"/>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9</a:t>
            </a:r>
          </a:p>
        </p:txBody>
      </p:sp>
    </p:spTree>
    <p:extLst>
      <p:ext uri="{BB962C8B-B14F-4D97-AF65-F5344CB8AC3E}">
        <p14:creationId xmlns:p14="http://schemas.microsoft.com/office/powerpoint/2010/main" val="166532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2CBA9919-B030-4F6C-B66B-ABDEFF242090}"/>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R1 · Lectures hors périmètre métier</a:t>
            </a:r>
          </a:p>
        </p:txBody>
      </p:sp>
      <p:sp>
        <p:nvSpPr>
          <p:cNvPr id="2" name="text">
            <a:extLst>
              <a:ext uri="{FF2B5EF4-FFF2-40B4-BE49-F238E27FC236}">
                <a16:creationId xmlns:a16="http://schemas.microsoft.com/office/drawing/2014/main" id="{B9689772-EEA7-4D8E-B861-33FB08DC7A2A}"/>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Scénario</a:t>
            </a:r>
          </a:p>
        </p:txBody>
      </p:sp>
      <p:sp>
        <p:nvSpPr>
          <p:cNvPr id="3" name="text">
            <a:extLst>
              <a:ext uri="{FF2B5EF4-FFF2-40B4-BE49-F238E27FC236}">
                <a16:creationId xmlns:a16="http://schemas.microsoft.com/office/drawing/2014/main" id="{5A4BA893-23CC-4D20-8560-5AADC879F422}"/>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Un agent non participant lit une opération étrangère directement par API.</a:t>
            </a:r>
          </a:p>
        </p:txBody>
      </p:sp>
      <p:sp>
        <p:nvSpPr>
          <p:cNvPr id="4" name="text">
            <a:extLst>
              <a:ext uri="{FF2B5EF4-FFF2-40B4-BE49-F238E27FC236}">
                <a16:creationId xmlns:a16="http://schemas.microsoft.com/office/drawing/2014/main" id="{F21B4C83-2106-4260-996F-4121206003EF}"/>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Cause</a:t>
            </a:r>
          </a:p>
        </p:txBody>
      </p:sp>
      <p:sp>
        <p:nvSpPr>
          <p:cNvPr id="5" name="text">
            <a:extLst>
              <a:ext uri="{FF2B5EF4-FFF2-40B4-BE49-F238E27FC236}">
                <a16:creationId xmlns:a16="http://schemas.microsoft.com/office/drawing/2014/main" id="{37B7DF1E-2E56-432E-9499-1C5AE4917968}"/>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SELECT autorisé globalement. Les filtres Angular interviennent après le chargement.</a:t>
            </a:r>
          </a:p>
        </p:txBody>
      </p:sp>
      <p:sp>
        <p:nvSpPr>
          <p:cNvPr id="6" name="text">
            <a:extLst>
              <a:ext uri="{FF2B5EF4-FFF2-40B4-BE49-F238E27FC236}">
                <a16:creationId xmlns:a16="http://schemas.microsoft.com/office/drawing/2014/main" id="{36E290C1-65FF-47E6-80BB-5B2FB82A3B5A}"/>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Correction attendue</a:t>
            </a:r>
          </a:p>
        </p:txBody>
      </p:sp>
      <p:sp>
        <p:nvSpPr>
          <p:cNvPr id="7" name="text">
            <a:extLst>
              <a:ext uri="{FF2B5EF4-FFF2-40B4-BE49-F238E27FC236}">
                <a16:creationId xmlns:a16="http://schemas.microsoft.com/office/drawing/2014/main" id="{3F76292C-1891-416C-892F-5BEB6C743E00}"/>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RLS de lecture par rôle et participation, propagée aux enfants et visas.</a:t>
            </a:r>
          </a:p>
        </p:txBody>
      </p:sp>
      <p:sp>
        <p:nvSpPr>
          <p:cNvPr id="8" name="text">
            <a:extLst>
              <a:ext uri="{FF2B5EF4-FFF2-40B4-BE49-F238E27FC236}">
                <a16:creationId xmlns:a16="http://schemas.microsoft.com/office/drawing/2014/main" id="{6B023C26-010C-4E95-B8EA-73D64DD03966}"/>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Annuaire minimal et audience des signatures à définir séparément</a:t>
            </a:r>
          </a:p>
        </p:txBody>
      </p:sp>
      <p:sp>
        <p:nvSpPr>
          <p:cNvPr id="9" name="text">
            <a:extLst>
              <a:ext uri="{FF2B5EF4-FFF2-40B4-BE49-F238E27FC236}">
                <a16:creationId xmlns:a16="http://schemas.microsoft.com/office/drawing/2014/main" id="{DB08D975-CBD7-47BA-9232-26D3D7362329}"/>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10</a:t>
            </a:r>
          </a:p>
        </p:txBody>
      </p:sp>
    </p:spTree>
    <p:extLst>
      <p:ext uri="{BB962C8B-B14F-4D97-AF65-F5344CB8AC3E}">
        <p14:creationId xmlns:p14="http://schemas.microsoft.com/office/powerpoint/2010/main" val="1633576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B4A2A14F-0A76-4EB8-ABC0-D5BAFA829939}"/>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R2 · Statuts et attribution des visas</a:t>
            </a:r>
          </a:p>
        </p:txBody>
      </p:sp>
      <p:sp>
        <p:nvSpPr>
          <p:cNvPr id="2" name="text">
            <a:extLst>
              <a:ext uri="{FF2B5EF4-FFF2-40B4-BE49-F238E27FC236}">
                <a16:creationId xmlns:a16="http://schemas.microsoft.com/office/drawing/2014/main" id="{874EC438-98CB-431C-AF77-BE68D86F8C04}"/>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Scénario</a:t>
            </a:r>
          </a:p>
        </p:txBody>
      </p:sp>
      <p:sp>
        <p:nvSpPr>
          <p:cNvPr id="3" name="text">
            <a:extLst>
              <a:ext uri="{FF2B5EF4-FFF2-40B4-BE49-F238E27FC236}">
                <a16:creationId xmlns:a16="http://schemas.microsoft.com/office/drawing/2014/main" id="{D53A9294-162E-47B2-8527-0B55987A2E1D}"/>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Un compte ordinaire écrit un visa directeur ou efface le visa d'un tiers.</a:t>
            </a:r>
          </a:p>
        </p:txBody>
      </p:sp>
      <p:sp>
        <p:nvSpPr>
          <p:cNvPr id="4" name="text">
            <a:extLst>
              <a:ext uri="{FF2B5EF4-FFF2-40B4-BE49-F238E27FC236}">
                <a16:creationId xmlns:a16="http://schemas.microsoft.com/office/drawing/2014/main" id="{60729624-E8DC-4C51-A793-DC1F92BB55B7}"/>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Cause</a:t>
            </a:r>
          </a:p>
        </p:txBody>
      </p:sp>
      <p:sp>
        <p:nvSpPr>
          <p:cNvPr id="5" name="text">
            <a:extLst>
              <a:ext uri="{FF2B5EF4-FFF2-40B4-BE49-F238E27FC236}">
                <a16:creationId xmlns:a16="http://schemas.microsoft.com/office/drawing/2014/main" id="{BE541FD5-7113-4354-9E5C-730F9E585EC2}"/>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Scope, signataire et date viennent du client. SQL n'impose pas leur autorisation.</a:t>
            </a:r>
          </a:p>
        </p:txBody>
      </p:sp>
      <p:sp>
        <p:nvSpPr>
          <p:cNvPr id="6" name="text">
            <a:extLst>
              <a:ext uri="{FF2B5EF4-FFF2-40B4-BE49-F238E27FC236}">
                <a16:creationId xmlns:a16="http://schemas.microsoft.com/office/drawing/2014/main" id="{C578C983-6FB9-444F-A6F2-003D25F2C19C}"/>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Correction attendue</a:t>
            </a:r>
          </a:p>
        </p:txBody>
      </p:sp>
      <p:sp>
        <p:nvSpPr>
          <p:cNvPr id="7" name="text">
            <a:extLst>
              <a:ext uri="{FF2B5EF4-FFF2-40B4-BE49-F238E27FC236}">
                <a16:creationId xmlns:a16="http://schemas.microsoft.com/office/drawing/2014/main" id="{204A464D-024C-4B9C-AB32-04CB85D1D4D7}"/>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Opération SQL contrôlée par session, rôle, cible, prérequis et état du dossier.</a:t>
            </a:r>
          </a:p>
        </p:txBody>
      </p:sp>
      <p:sp>
        <p:nvSpPr>
          <p:cNvPr id="8" name="text">
            <a:extLst>
              <a:ext uri="{FF2B5EF4-FFF2-40B4-BE49-F238E27FC236}">
                <a16:creationId xmlns:a16="http://schemas.microsoft.com/office/drawing/2014/main" id="{11C1D515-C5A8-4C34-A732-2ECCDFDBDDEB}"/>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Le visuel est informatif. Le statut pilote néanmoins des prérequis applicatifs</a:t>
            </a:r>
          </a:p>
        </p:txBody>
      </p:sp>
      <p:sp>
        <p:nvSpPr>
          <p:cNvPr id="9" name="text">
            <a:extLst>
              <a:ext uri="{FF2B5EF4-FFF2-40B4-BE49-F238E27FC236}">
                <a16:creationId xmlns:a16="http://schemas.microsoft.com/office/drawing/2014/main" id="{31B3A989-9BC1-4DE8-9501-D8C0FD43A210}"/>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11</a:t>
            </a:r>
          </a:p>
        </p:txBody>
      </p:sp>
    </p:spTree>
    <p:extLst>
      <p:ext uri="{BB962C8B-B14F-4D97-AF65-F5344CB8AC3E}">
        <p14:creationId xmlns:p14="http://schemas.microsoft.com/office/powerpoint/2010/main" val="1330616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E5FEAF06-A393-4F96-BAA8-147E1DF34418}"/>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R3 · Intégrité après envoi RH</a:t>
            </a:r>
          </a:p>
        </p:txBody>
      </p:sp>
      <p:sp>
        <p:nvSpPr>
          <p:cNvPr id="2" name="text">
            <a:extLst>
              <a:ext uri="{FF2B5EF4-FFF2-40B4-BE49-F238E27FC236}">
                <a16:creationId xmlns:a16="http://schemas.microsoft.com/office/drawing/2014/main" id="{EFCF3F66-2BB1-40C9-B0E2-B98A65BE5DFD}"/>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Scénario</a:t>
            </a:r>
          </a:p>
        </p:txBody>
      </p:sp>
      <p:sp>
        <p:nvSpPr>
          <p:cNvPr id="3" name="text">
            <a:extLst>
              <a:ext uri="{FF2B5EF4-FFF2-40B4-BE49-F238E27FC236}">
                <a16:creationId xmlns:a16="http://schemas.microsoft.com/office/drawing/2014/main" id="{B4A4B00B-F888-4B29-897A-B2CBDBDE2D4D}"/>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L'agent change ou supprime son intervention alors que le dossier reste envoyé.</a:t>
            </a:r>
          </a:p>
        </p:txBody>
      </p:sp>
      <p:sp>
        <p:nvSpPr>
          <p:cNvPr id="4" name="text">
            <a:extLst>
              <a:ext uri="{FF2B5EF4-FFF2-40B4-BE49-F238E27FC236}">
                <a16:creationId xmlns:a16="http://schemas.microsoft.com/office/drawing/2014/main" id="{0BB26EFA-C892-4173-A8B7-822F0B1EF9F5}"/>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Cause</a:t>
            </a:r>
          </a:p>
        </p:txBody>
      </p:sp>
      <p:sp>
        <p:nvSpPr>
          <p:cNvPr id="5" name="text">
            <a:extLst>
              <a:ext uri="{FF2B5EF4-FFF2-40B4-BE49-F238E27FC236}">
                <a16:creationId xmlns:a16="http://schemas.microsoft.com/office/drawing/2014/main" id="{62DF18BD-27CC-4D8A-9535-673063A9F0F6}"/>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Le verrou protège le parent. Les droits sur les enfants ignorent son état RH.</a:t>
            </a:r>
          </a:p>
        </p:txBody>
      </p:sp>
      <p:sp>
        <p:nvSpPr>
          <p:cNvPr id="6" name="text">
            <a:extLst>
              <a:ext uri="{FF2B5EF4-FFF2-40B4-BE49-F238E27FC236}">
                <a16:creationId xmlns:a16="http://schemas.microsoft.com/office/drawing/2014/main" id="{094E96DC-B533-4627-825E-B202E19535C4}"/>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Correction attendue</a:t>
            </a:r>
          </a:p>
        </p:txBody>
      </p:sp>
      <p:sp>
        <p:nvSpPr>
          <p:cNvPr id="7" name="text">
            <a:extLst>
              <a:ext uri="{FF2B5EF4-FFF2-40B4-BE49-F238E27FC236}">
                <a16:creationId xmlns:a16="http://schemas.microsoft.com/office/drawing/2014/main" id="{E378F3DE-9438-4EF1-AF9A-5B9C9E5C87B3}"/>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Contrôle transactionnel du parent sur chaque INSERT, UPDATE et DELETE enfant.</a:t>
            </a:r>
          </a:p>
        </p:txBody>
      </p:sp>
      <p:sp>
        <p:nvSpPr>
          <p:cNvPr id="8" name="text">
            <a:extLst>
              <a:ext uri="{FF2B5EF4-FFF2-40B4-BE49-F238E27FC236}">
                <a16:creationId xmlns:a16="http://schemas.microsoft.com/office/drawing/2014/main" id="{106153BB-A129-4994-886A-2AF4D2A5A337}"/>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La réouverture autorisée reste possible, avec trace et nouvelle validation</a:t>
            </a:r>
          </a:p>
        </p:txBody>
      </p:sp>
      <p:sp>
        <p:nvSpPr>
          <p:cNvPr id="9" name="text">
            <a:extLst>
              <a:ext uri="{FF2B5EF4-FFF2-40B4-BE49-F238E27FC236}">
                <a16:creationId xmlns:a16="http://schemas.microsoft.com/office/drawing/2014/main" id="{F1D75B8D-8AFD-4228-80D5-5721082F1726}"/>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12</a:t>
            </a:r>
          </a:p>
        </p:txBody>
      </p:sp>
    </p:spTree>
    <p:extLst>
      <p:ext uri="{BB962C8B-B14F-4D97-AF65-F5344CB8AC3E}">
        <p14:creationId xmlns:p14="http://schemas.microsoft.com/office/powerpoint/2010/main" val="1631804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CBE844E8-53FE-445E-BBEB-87BAF7C406FE}"/>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R4 · Paramètres calendaires communs</a:t>
            </a:r>
          </a:p>
        </p:txBody>
      </p:sp>
      <p:sp>
        <p:nvSpPr>
          <p:cNvPr id="2" name="text">
            <a:extLst>
              <a:ext uri="{FF2B5EF4-FFF2-40B4-BE49-F238E27FC236}">
                <a16:creationId xmlns:a16="http://schemas.microsoft.com/office/drawing/2014/main" id="{6062E681-0D8C-47F0-973B-47E612881497}"/>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Scénario</a:t>
            </a:r>
          </a:p>
        </p:txBody>
      </p:sp>
      <p:sp>
        <p:nvSpPr>
          <p:cNvPr id="3" name="text">
            <a:extLst>
              <a:ext uri="{FF2B5EF4-FFF2-40B4-BE49-F238E27FC236}">
                <a16:creationId xmlns:a16="http://schemas.microsoft.com/office/drawing/2014/main" id="{D43E0BEF-8E34-4253-9E85-B57A91BB7580}"/>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Un simple utilisateur ajoute ou supprime un jour férié par l'API.</a:t>
            </a:r>
          </a:p>
        </p:txBody>
      </p:sp>
      <p:sp>
        <p:nvSpPr>
          <p:cNvPr id="4" name="text">
            <a:extLst>
              <a:ext uri="{FF2B5EF4-FFF2-40B4-BE49-F238E27FC236}">
                <a16:creationId xmlns:a16="http://schemas.microsoft.com/office/drawing/2014/main" id="{FF5D96F5-30BA-4D21-AB10-F66F08976167}"/>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Cause</a:t>
            </a:r>
          </a:p>
        </p:txBody>
      </p:sp>
      <p:sp>
        <p:nvSpPr>
          <p:cNvPr id="5" name="text">
            <a:extLst>
              <a:ext uri="{FF2B5EF4-FFF2-40B4-BE49-F238E27FC236}">
                <a16:creationId xmlns:a16="http://schemas.microsoft.com/office/drawing/2014/main" id="{5066C3F6-FB32-4073-AA8B-A29AEDB41CE4}"/>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Les mutations du calendrier restent ouvertes au rôle authenticated.</a:t>
            </a:r>
          </a:p>
        </p:txBody>
      </p:sp>
      <p:sp>
        <p:nvSpPr>
          <p:cNvPr id="6" name="text">
            <a:extLst>
              <a:ext uri="{FF2B5EF4-FFF2-40B4-BE49-F238E27FC236}">
                <a16:creationId xmlns:a16="http://schemas.microsoft.com/office/drawing/2014/main" id="{7F67D865-7205-4793-B31F-84AE2B933B94}"/>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Correction attendue</a:t>
            </a:r>
          </a:p>
        </p:txBody>
      </p:sp>
      <p:sp>
        <p:nvSpPr>
          <p:cNvPr id="7" name="text">
            <a:extLst>
              <a:ext uri="{FF2B5EF4-FFF2-40B4-BE49-F238E27FC236}">
                <a16:creationId xmlns:a16="http://schemas.microsoft.com/office/drawing/2014/main" id="{AD770AD6-E832-4052-AAFE-E9249BB6A784}"/>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Habilitations SQL pour chaque paramètre et traçabilité des changements.</a:t>
            </a:r>
          </a:p>
        </p:txBody>
      </p:sp>
      <p:sp>
        <p:nvSpPr>
          <p:cNvPr id="8" name="text">
            <a:extLst>
              <a:ext uri="{FF2B5EF4-FFF2-40B4-BE49-F238E27FC236}">
                <a16:creationId xmlns:a16="http://schemas.microsoft.com/office/drawing/2014/main" id="{79316ACE-FB53-43DD-A926-7066F629A510}"/>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Les coefficients RH sont protégés. Les jours fériés influencent aussi les calculs</a:t>
            </a:r>
          </a:p>
        </p:txBody>
      </p:sp>
      <p:sp>
        <p:nvSpPr>
          <p:cNvPr id="9" name="text">
            <a:extLst>
              <a:ext uri="{FF2B5EF4-FFF2-40B4-BE49-F238E27FC236}">
                <a16:creationId xmlns:a16="http://schemas.microsoft.com/office/drawing/2014/main" id="{C9E191F3-BB8E-413B-A8EF-6A80238DBACC}"/>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13</a:t>
            </a:r>
          </a:p>
        </p:txBody>
      </p:sp>
    </p:spTree>
    <p:extLst>
      <p:ext uri="{BB962C8B-B14F-4D97-AF65-F5344CB8AC3E}">
        <p14:creationId xmlns:p14="http://schemas.microsoft.com/office/powerpoint/2010/main" val="488917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4AAE2E38-C369-4B68-8C79-D96B3A0EC3D8}"/>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Chaîne RH et cohérence transactionnelle</a:t>
            </a:r>
          </a:p>
        </p:txBody>
      </p:sp>
      <p:sp>
        <p:nvSpPr>
          <p:cNvPr id="2" name="text">
            <a:extLst>
              <a:ext uri="{FF2B5EF4-FFF2-40B4-BE49-F238E27FC236}">
                <a16:creationId xmlns:a16="http://schemas.microsoft.com/office/drawing/2014/main" id="{104E43D4-5A02-464B-A3FD-09E10B8490A2}"/>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Prérequis</a:t>
            </a:r>
          </a:p>
        </p:txBody>
      </p:sp>
      <p:sp>
        <p:nvSpPr>
          <p:cNvPr id="3" name="text">
            <a:extLst>
              <a:ext uri="{FF2B5EF4-FFF2-40B4-BE49-F238E27FC236}">
                <a16:creationId xmlns:a16="http://schemas.microsoft.com/office/drawing/2014/main" id="{4476138C-F5AF-451C-B055-FC04ABD34AEF}"/>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Les visas nécessaires et l'approbation directeur conditionnent l'envoi dans Angular.</a:t>
            </a:r>
          </a:p>
        </p:txBody>
      </p:sp>
      <p:sp>
        <p:nvSpPr>
          <p:cNvPr id="4" name="text">
            <a:extLst>
              <a:ext uri="{FF2B5EF4-FFF2-40B4-BE49-F238E27FC236}">
                <a16:creationId xmlns:a16="http://schemas.microsoft.com/office/drawing/2014/main" id="{F02781BD-87B1-4755-9931-0CEC6420A975}"/>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Écart SQL</a:t>
            </a:r>
          </a:p>
        </p:txBody>
      </p:sp>
      <p:sp>
        <p:nvSpPr>
          <p:cNvPr id="5" name="text">
            <a:extLst>
              <a:ext uri="{FF2B5EF4-FFF2-40B4-BE49-F238E27FC236}">
                <a16:creationId xmlns:a16="http://schemas.microsoft.com/office/drawing/2014/main" id="{ADD6C020-F63F-478D-9C40-28A6A2C18698}"/>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Le trigger d'envoi vérifie les rôles, sans vérifier la chaîne complète de visas.</a:t>
            </a:r>
          </a:p>
        </p:txBody>
      </p:sp>
      <p:sp>
        <p:nvSpPr>
          <p:cNvPr id="6" name="text">
            <a:extLst>
              <a:ext uri="{FF2B5EF4-FFF2-40B4-BE49-F238E27FC236}">
                <a16:creationId xmlns:a16="http://schemas.microsoft.com/office/drawing/2014/main" id="{6A882C54-67E4-4412-8CDB-0892BEB0E7A0}"/>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Cible proposée</a:t>
            </a:r>
          </a:p>
        </p:txBody>
      </p:sp>
      <p:sp>
        <p:nvSpPr>
          <p:cNvPr id="7" name="text">
            <a:extLst>
              <a:ext uri="{FF2B5EF4-FFF2-40B4-BE49-F238E27FC236}">
                <a16:creationId xmlns:a16="http://schemas.microsoft.com/office/drawing/2014/main" id="{70A3900E-A947-4064-A090-30FA2E854A65}"/>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Envoi, réouverture et invalidation dans des opérations transactionnelles communes.</a:t>
            </a:r>
          </a:p>
        </p:txBody>
      </p:sp>
      <p:sp>
        <p:nvSpPr>
          <p:cNvPr id="8" name="text">
            <a:extLst>
              <a:ext uri="{FF2B5EF4-FFF2-40B4-BE49-F238E27FC236}">
                <a16:creationId xmlns:a16="http://schemas.microsoft.com/office/drawing/2014/main" id="{C1E1CB00-0BBD-4553-B427-7DF05221A9C6}"/>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Un envoi applicatif ne démontre pas une validation finale par les RH</a:t>
            </a:r>
          </a:p>
        </p:txBody>
      </p:sp>
      <p:sp>
        <p:nvSpPr>
          <p:cNvPr id="9" name="text">
            <a:extLst>
              <a:ext uri="{FF2B5EF4-FFF2-40B4-BE49-F238E27FC236}">
                <a16:creationId xmlns:a16="http://schemas.microsoft.com/office/drawing/2014/main" id="{866C8D26-5073-426A-8897-14A44876AEC8}"/>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14</a:t>
            </a:r>
          </a:p>
        </p:txBody>
      </p:sp>
    </p:spTree>
    <p:extLst>
      <p:ext uri="{BB962C8B-B14F-4D97-AF65-F5344CB8AC3E}">
        <p14:creationId xmlns:p14="http://schemas.microsoft.com/office/powerpoint/2010/main" val="1156856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A74AF279-2D7C-4212-BF40-607A8154F156}"/>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Admission, sessions et départs</a:t>
            </a:r>
          </a:p>
        </p:txBody>
      </p:sp>
      <p:graphicFrame>
        <p:nvGraphicFramePr>
          <p:cNvPr id="2" name="Tableau 1">
            <a:extLst>
              <a:ext uri="{FF2B5EF4-FFF2-40B4-BE49-F238E27FC236}">
                <a16:creationId xmlns:a16="http://schemas.microsoft.com/office/drawing/2014/main" id="{3622E440-5BFE-4206-BB2F-1A5A4A7ABB52}"/>
              </a:ext>
            </a:extLst>
          </p:cNvPr>
          <p:cNvGraphicFramePr/>
          <p:nvPr/>
        </p:nvGraphicFramePr>
        <p:xfrm>
          <a:off x="685800" y="1809750"/>
          <a:ext cx="10820400" cy="3667125"/>
        </p:xfrm>
        <a:graphic>
          <a:graphicData uri="http://schemas.openxmlformats.org/drawingml/2006/table">
            <a:tbl>
              <a:tblPr/>
              <a:tblGrid>
                <a:gridCol w="3333750">
                  <a:extLst>
                    <a:ext uri="{9D8B030D-6E8A-4147-A177-3AD203B41FA5}">
                      <a16:colId xmlns:a16="http://schemas.microsoft.com/office/drawing/2014/main" val="20000"/>
                    </a:ext>
                  </a:extLst>
                </a:gridCol>
                <a:gridCol w="7486650">
                  <a:extLst>
                    <a:ext uri="{9D8B030D-6E8A-4147-A177-3AD203B41FA5}">
                      <a16:colId xmlns:a16="http://schemas.microsoft.com/office/drawing/2014/main" val="20001"/>
                    </a:ext>
                  </a:extLst>
                </a:gridCol>
              </a:tblGrid>
              <a:tr h="733425">
                <a:tc>
                  <a:txBody>
                    <a:bodyPr/>
                    <a:lstStyle/>
                    <a:p>
                      <a:r>
                        <a:rPr sz="1800" b="1">
                          <a:solidFill>
                            <a:srgbClr val="FFFFFF"/>
                          </a:solidFill>
                          <a:latin typeface="Arial"/>
                          <a:ea typeface="Arial"/>
                          <a:cs typeface="Arial"/>
                        </a:rPr>
                        <a:t>Sujet</a:t>
                      </a:r>
                    </a:p>
                  </a:txBody>
                  <a:tcPr anchor="ctr">
                    <a:solidFill>
                      <a:srgbClr val="12304A"/>
                    </a:solidFill>
                  </a:tcPr>
                </a:tc>
                <a:tc>
                  <a:txBody>
                    <a:bodyPr/>
                    <a:lstStyle/>
                    <a:p>
                      <a:r>
                        <a:rPr sz="1800" b="1">
                          <a:solidFill>
                            <a:srgbClr val="FFFFFF"/>
                          </a:solidFill>
                          <a:latin typeface="Arial"/>
                          <a:ea typeface="Arial"/>
                          <a:cs typeface="Arial"/>
                        </a:rPr>
                        <a:t>État observé / décision attendue</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Création de compte</a:t>
                      </a:r>
                    </a:p>
                  </a:txBody>
                  <a:tcPr anchor="ctr">
                    <a:solidFill>
                      <a:srgbClr val="FFFFFF"/>
                    </a:solidFill>
                  </a:tcPr>
                </a:tc>
                <a:tc>
                  <a:txBody>
                    <a:bodyPr/>
                    <a:lstStyle/>
                    <a:p>
                      <a:r>
                        <a:rPr sz="1800" b="0">
                          <a:solidFill>
                            <a:srgbClr val="193445"/>
                          </a:solidFill>
                          <a:latin typeface="Arial"/>
                          <a:ea typeface="Arial"/>
                          <a:cs typeface="Arial"/>
                        </a:rPr>
                        <a:t>Inscription ouverte en local. Admission à définir</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MFA et mots de passe</a:t>
                      </a:r>
                    </a:p>
                  </a:txBody>
                  <a:tcPr anchor="ctr">
                    <a:solidFill>
                      <a:srgbClr val="EEF3F6"/>
                    </a:solidFill>
                  </a:tcPr>
                </a:tc>
                <a:tc>
                  <a:txBody>
                    <a:bodyPr/>
                    <a:lstStyle/>
                    <a:p>
                      <a:r>
                        <a:rPr sz="1800" b="0">
                          <a:solidFill>
                            <a:srgbClr val="193445"/>
                          </a:solidFill>
                          <a:latin typeface="Arial"/>
                          <a:ea typeface="Arial"/>
                          <a:cs typeface="Arial"/>
                        </a:rPr>
                        <a:t>MFA locale désactivée. Politique production à définir</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Sessions</a:t>
                      </a:r>
                    </a:p>
                  </a:txBody>
                  <a:tcPr anchor="ctr">
                    <a:solidFill>
                      <a:srgbClr val="FFFFFF"/>
                    </a:solidFill>
                  </a:tcPr>
                </a:tc>
                <a:tc>
                  <a:txBody>
                    <a:bodyPr/>
                    <a:lstStyle/>
                    <a:p>
                      <a:r>
                        <a:rPr sz="1800" b="0">
                          <a:solidFill>
                            <a:srgbClr val="193445"/>
                          </a:solidFill>
                          <a:latin typeface="Arial"/>
                          <a:ea typeface="Arial"/>
                          <a:cs typeface="Arial"/>
                        </a:rPr>
                        <a:t>Persistance et renouvellement automatiques du SDK</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Départ d'un agent</a:t>
                      </a:r>
                    </a:p>
                  </a:txBody>
                  <a:tcPr anchor="ctr">
                    <a:solidFill>
                      <a:srgbClr val="EEF3F6"/>
                    </a:solidFill>
                  </a:tcPr>
                </a:tc>
                <a:tc>
                  <a:txBody>
                    <a:bodyPr/>
                    <a:lstStyle/>
                    <a:p>
                      <a:r>
                        <a:rPr sz="1800" b="0">
                          <a:solidFill>
                            <a:srgbClr val="193445"/>
                          </a:solidFill>
                          <a:latin typeface="Arial"/>
                          <a:ea typeface="Arial"/>
                          <a:cs typeface="Arial"/>
                        </a:rPr>
                        <a:t>Suppression du profil distincte du compte Auth</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FA2D7DB2-5AE1-4DAC-AB7F-BD541DEE160E}"/>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Proposition : admission maîtrisée et MFA pour les accès privilégiés</a:t>
            </a:r>
          </a:p>
        </p:txBody>
      </p:sp>
      <p:sp>
        <p:nvSpPr>
          <p:cNvPr id="4" name="text">
            <a:extLst>
              <a:ext uri="{FF2B5EF4-FFF2-40B4-BE49-F238E27FC236}">
                <a16:creationId xmlns:a16="http://schemas.microsoft.com/office/drawing/2014/main" id="{3FC616E9-3CE1-4A1C-ACC2-85F85438AE0F}"/>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15</a:t>
            </a:r>
          </a:p>
        </p:txBody>
      </p:sp>
    </p:spTree>
    <p:extLst>
      <p:ext uri="{BB962C8B-B14F-4D97-AF65-F5344CB8AC3E}">
        <p14:creationId xmlns:p14="http://schemas.microsoft.com/office/powerpoint/2010/main" val="1599079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335CD873-9A9C-4588-A7BF-408FBCB929AF}"/>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Exposition réseau et navigateur</a:t>
            </a:r>
          </a:p>
        </p:txBody>
      </p:sp>
      <p:sp>
        <p:nvSpPr>
          <p:cNvPr id="2" name="text">
            <a:extLst>
              <a:ext uri="{FF2B5EF4-FFF2-40B4-BE49-F238E27FC236}">
                <a16:creationId xmlns:a16="http://schemas.microsoft.com/office/drawing/2014/main" id="{D9E7FD05-9893-493E-B2FD-4696A16C94BD}"/>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Gateway</a:t>
            </a:r>
          </a:p>
        </p:txBody>
      </p:sp>
      <p:sp>
        <p:nvSpPr>
          <p:cNvPr id="3" name="text">
            <a:extLst>
              <a:ext uri="{FF2B5EF4-FFF2-40B4-BE49-F238E27FC236}">
                <a16:creationId xmlns:a16="http://schemas.microsoft.com/office/drawing/2014/main" id="{9A1D0904-FFD5-4BE6-9050-1A6C658E73FF}"/>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Tout le préfixe /supabase est relayé. Les API restent accessibles via cette URL.</a:t>
            </a:r>
          </a:p>
        </p:txBody>
      </p:sp>
      <p:sp>
        <p:nvSpPr>
          <p:cNvPr id="4" name="text">
            <a:extLst>
              <a:ext uri="{FF2B5EF4-FFF2-40B4-BE49-F238E27FC236}">
                <a16:creationId xmlns:a16="http://schemas.microsoft.com/office/drawing/2014/main" id="{7F99E899-C5C3-442C-BF48-B740E6AD1D84}"/>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Transport</a:t>
            </a:r>
          </a:p>
        </p:txBody>
      </p:sp>
      <p:sp>
        <p:nvSpPr>
          <p:cNvPr id="5" name="text">
            <a:extLst>
              <a:ext uri="{FF2B5EF4-FFF2-40B4-BE49-F238E27FC236}">
                <a16:creationId xmlns:a16="http://schemas.microsoft.com/office/drawing/2014/main" id="{DFBF1342-D72B-4CAE-943C-01D22CFD3627}"/>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HTTP interne par défaut, HTTPS public évoqué dans la documentation.</a:t>
            </a:r>
          </a:p>
        </p:txBody>
      </p:sp>
      <p:sp>
        <p:nvSpPr>
          <p:cNvPr id="6" name="text">
            <a:extLst>
              <a:ext uri="{FF2B5EF4-FFF2-40B4-BE49-F238E27FC236}">
                <a16:creationId xmlns:a16="http://schemas.microsoft.com/office/drawing/2014/main" id="{168AB3A7-736D-44CB-8F84-5D1B1F01299F}"/>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Durcissement à vérifier</a:t>
            </a:r>
          </a:p>
        </p:txBody>
      </p:sp>
      <p:sp>
        <p:nvSpPr>
          <p:cNvPr id="7" name="text">
            <a:extLst>
              <a:ext uri="{FF2B5EF4-FFF2-40B4-BE49-F238E27FC236}">
                <a16:creationId xmlns:a16="http://schemas.microsoft.com/office/drawing/2014/main" id="{C35BA17A-5CFC-4A29-A60C-A38C69BFA30F}"/>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Ports, routes, TLS, CSP et protection contre l'intégration dans un site tiers.</a:t>
            </a:r>
          </a:p>
        </p:txBody>
      </p:sp>
      <p:sp>
        <p:nvSpPr>
          <p:cNvPr id="8" name="text">
            <a:extLst>
              <a:ext uri="{FF2B5EF4-FFF2-40B4-BE49-F238E27FC236}">
                <a16:creationId xmlns:a16="http://schemas.microsoft.com/office/drawing/2014/main" id="{96D88EA1-23D2-4DE6-AE1A-9C66F5CD169D}"/>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Aucune exposition de Studio ou de production n'a été démontrée</a:t>
            </a:r>
          </a:p>
        </p:txBody>
      </p:sp>
      <p:sp>
        <p:nvSpPr>
          <p:cNvPr id="9" name="text">
            <a:extLst>
              <a:ext uri="{FF2B5EF4-FFF2-40B4-BE49-F238E27FC236}">
                <a16:creationId xmlns:a16="http://schemas.microsoft.com/office/drawing/2014/main" id="{6B97ADE7-53F5-4968-9A41-D42698BE7B5E}"/>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16</a:t>
            </a:r>
          </a:p>
        </p:txBody>
      </p:sp>
    </p:spTree>
    <p:extLst>
      <p:ext uri="{BB962C8B-B14F-4D97-AF65-F5344CB8AC3E}">
        <p14:creationId xmlns:p14="http://schemas.microsoft.com/office/powerpoint/2010/main" val="1295432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E1C1543A-BC1F-4733-8580-8A77DFDCE3D9}"/>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Données personnelles et copies exportées</a:t>
            </a:r>
          </a:p>
        </p:txBody>
      </p:sp>
      <p:sp>
        <p:nvSpPr>
          <p:cNvPr id="2" name="text">
            <a:extLst>
              <a:ext uri="{FF2B5EF4-FFF2-40B4-BE49-F238E27FC236}">
                <a16:creationId xmlns:a16="http://schemas.microsoft.com/office/drawing/2014/main" id="{5954EEFA-541E-458D-9078-8DC4ECCF592A}"/>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Lecture minimale</a:t>
            </a:r>
          </a:p>
        </p:txBody>
      </p:sp>
      <p:sp>
        <p:nvSpPr>
          <p:cNvPr id="3" name="text">
            <a:extLst>
              <a:ext uri="{FF2B5EF4-FFF2-40B4-BE49-F238E27FC236}">
                <a16:creationId xmlns:a16="http://schemas.microsoft.com/office/drawing/2014/main" id="{298E32F5-5E25-4D49-8AA5-467BADE1DCE0}"/>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Annuaire, commentaires et signatures selon l'audience réellement nécessaire.</a:t>
            </a:r>
          </a:p>
        </p:txBody>
      </p:sp>
      <p:sp>
        <p:nvSpPr>
          <p:cNvPr id="4" name="text">
            <a:extLst>
              <a:ext uri="{FF2B5EF4-FFF2-40B4-BE49-F238E27FC236}">
                <a16:creationId xmlns:a16="http://schemas.microsoft.com/office/drawing/2014/main" id="{D4F3D538-716A-4FB4-967F-271FCC84FB8D}"/>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Exports locaux</a:t>
            </a:r>
          </a:p>
        </p:txBody>
      </p:sp>
      <p:sp>
        <p:nvSpPr>
          <p:cNvPr id="5" name="text">
            <a:extLst>
              <a:ext uri="{FF2B5EF4-FFF2-40B4-BE49-F238E27FC236}">
                <a16:creationId xmlns:a16="http://schemas.microsoft.com/office/drawing/2014/main" id="{58E6ECA3-2107-4E5C-9DDA-FFFD97F4F5FA}"/>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Les fichiers restent sur les postes et peuvent être retransmis.</a:t>
            </a:r>
          </a:p>
        </p:txBody>
      </p:sp>
      <p:sp>
        <p:nvSpPr>
          <p:cNvPr id="6" name="text">
            <a:extLst>
              <a:ext uri="{FF2B5EF4-FFF2-40B4-BE49-F238E27FC236}">
                <a16:creationId xmlns:a16="http://schemas.microsoft.com/office/drawing/2014/main" id="{EB8E4223-2997-4E27-B90D-1A4C023B948C}"/>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Gouvernance</a:t>
            </a:r>
          </a:p>
        </p:txBody>
      </p:sp>
      <p:sp>
        <p:nvSpPr>
          <p:cNvPr id="7" name="text">
            <a:extLst>
              <a:ext uri="{FF2B5EF4-FFF2-40B4-BE49-F238E27FC236}">
                <a16:creationId xmlns:a16="http://schemas.microsoft.com/office/drawing/2014/main" id="{D41295EE-281B-46C6-8B0F-BF45B4258BC3}"/>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Finalités, conservation, destinataires et hébergement à cadrer avec le DPO.</a:t>
            </a:r>
          </a:p>
        </p:txBody>
      </p:sp>
      <p:sp>
        <p:nvSpPr>
          <p:cNvPr id="8" name="text">
            <a:extLst>
              <a:ext uri="{FF2B5EF4-FFF2-40B4-BE49-F238E27FC236}">
                <a16:creationId xmlns:a16="http://schemas.microsoft.com/office/drawing/2014/main" id="{74067D70-3A1F-4C31-8C86-7AB9CDA4C9CC}"/>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Désactiver un bouton d'export ne retire pas des données déjà téléchargées</a:t>
            </a:r>
          </a:p>
        </p:txBody>
      </p:sp>
      <p:sp>
        <p:nvSpPr>
          <p:cNvPr id="9" name="text">
            <a:extLst>
              <a:ext uri="{FF2B5EF4-FFF2-40B4-BE49-F238E27FC236}">
                <a16:creationId xmlns:a16="http://schemas.microsoft.com/office/drawing/2014/main" id="{9B8F1043-59A8-44C6-8F89-FE85ADB3A3CC}"/>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17</a:t>
            </a:r>
          </a:p>
        </p:txBody>
      </p:sp>
    </p:spTree>
    <p:extLst>
      <p:ext uri="{BB962C8B-B14F-4D97-AF65-F5344CB8AC3E}">
        <p14:creationId xmlns:p14="http://schemas.microsoft.com/office/powerpoint/2010/main" val="1003916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ED47CD1A-F871-4908-86D2-A4826A15EE98}"/>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Traçabilité et réponse à incident</a:t>
            </a:r>
          </a:p>
        </p:txBody>
      </p:sp>
      <p:sp>
        <p:nvSpPr>
          <p:cNvPr id="2" name="text">
            <a:extLst>
              <a:ext uri="{FF2B5EF4-FFF2-40B4-BE49-F238E27FC236}">
                <a16:creationId xmlns:a16="http://schemas.microsoft.com/office/drawing/2014/main" id="{904D32AC-1A65-4C3B-BF6A-9F717AB6840B}"/>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Événements prioritaires</a:t>
            </a:r>
          </a:p>
        </p:txBody>
      </p:sp>
      <p:sp>
        <p:nvSpPr>
          <p:cNvPr id="3" name="text">
            <a:extLst>
              <a:ext uri="{FF2B5EF4-FFF2-40B4-BE49-F238E27FC236}">
                <a16:creationId xmlns:a16="http://schemas.microsoft.com/office/drawing/2014/main" id="{D1D48936-F53A-4B19-9E65-8DBD7E0FC750}"/>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Changements de rôle, visas, envois, réouvertures et paramètres RH.</a:t>
            </a:r>
          </a:p>
        </p:txBody>
      </p:sp>
      <p:sp>
        <p:nvSpPr>
          <p:cNvPr id="4" name="text">
            <a:extLst>
              <a:ext uri="{FF2B5EF4-FFF2-40B4-BE49-F238E27FC236}">
                <a16:creationId xmlns:a16="http://schemas.microsoft.com/office/drawing/2014/main" id="{DA9FD6E3-07B9-43B2-83C4-07DBFE6D1DEF}"/>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Preuve attendue</a:t>
            </a:r>
          </a:p>
        </p:txBody>
      </p:sp>
      <p:sp>
        <p:nvSpPr>
          <p:cNvPr id="5" name="text">
            <a:extLst>
              <a:ext uri="{FF2B5EF4-FFF2-40B4-BE49-F238E27FC236}">
                <a16:creationId xmlns:a16="http://schemas.microsoft.com/office/drawing/2014/main" id="{4C5FE6B4-E602-493B-BBD8-8D6668756E03}"/>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Acteur, cible, action, heure serveur et résultat, avec accès restreint.</a:t>
            </a:r>
          </a:p>
        </p:txBody>
      </p:sp>
      <p:sp>
        <p:nvSpPr>
          <p:cNvPr id="6" name="text">
            <a:extLst>
              <a:ext uri="{FF2B5EF4-FFF2-40B4-BE49-F238E27FC236}">
                <a16:creationId xmlns:a16="http://schemas.microsoft.com/office/drawing/2014/main" id="{523063F9-8D89-4011-BC83-301B5194B627}"/>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Organisation</a:t>
            </a:r>
          </a:p>
        </p:txBody>
      </p:sp>
      <p:sp>
        <p:nvSpPr>
          <p:cNvPr id="7" name="text">
            <a:extLst>
              <a:ext uri="{FF2B5EF4-FFF2-40B4-BE49-F238E27FC236}">
                <a16:creationId xmlns:a16="http://schemas.microsoft.com/office/drawing/2014/main" id="{DBC12378-6A63-4BA7-B5B0-AC86457F9210}"/>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Responsable d'alerte, suspension d'accès et conservation des preuves.</a:t>
            </a:r>
          </a:p>
        </p:txBody>
      </p:sp>
      <p:sp>
        <p:nvSpPr>
          <p:cNvPr id="8" name="text">
            <a:extLst>
              <a:ext uri="{FF2B5EF4-FFF2-40B4-BE49-F238E27FC236}">
                <a16:creationId xmlns:a16="http://schemas.microsoft.com/office/drawing/2014/main" id="{CBFBB99A-C04E-4F1F-AFFF-2B24C4488B4B}"/>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Les colonnes updated_at ne reconstituent pas l'historique des actions</a:t>
            </a:r>
          </a:p>
        </p:txBody>
      </p:sp>
      <p:sp>
        <p:nvSpPr>
          <p:cNvPr id="9" name="text">
            <a:extLst>
              <a:ext uri="{FF2B5EF4-FFF2-40B4-BE49-F238E27FC236}">
                <a16:creationId xmlns:a16="http://schemas.microsoft.com/office/drawing/2014/main" id="{2B762CC5-DCBA-4B9A-A5F3-4CC64AD0D5B0}"/>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18</a:t>
            </a:r>
          </a:p>
        </p:txBody>
      </p:sp>
    </p:spTree>
    <p:extLst>
      <p:ext uri="{BB962C8B-B14F-4D97-AF65-F5344CB8AC3E}">
        <p14:creationId xmlns:p14="http://schemas.microsoft.com/office/powerpoint/2010/main" val="601715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6C9A9118-067F-42E6-A172-825E2D07A972}"/>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Disponibilité et restauration</a:t>
            </a:r>
          </a:p>
        </p:txBody>
      </p:sp>
      <p:sp>
        <p:nvSpPr>
          <p:cNvPr id="2" name="text">
            <a:extLst>
              <a:ext uri="{FF2B5EF4-FFF2-40B4-BE49-F238E27FC236}">
                <a16:creationId xmlns:a16="http://schemas.microsoft.com/office/drawing/2014/main" id="{1DBC5581-7722-4C88-BD8F-3377ED08ADAD}"/>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Dépendances d'exploitation</a:t>
            </a:r>
          </a:p>
        </p:txBody>
      </p:sp>
      <p:sp>
        <p:nvSpPr>
          <p:cNvPr id="3" name="text">
            <a:extLst>
              <a:ext uri="{FF2B5EF4-FFF2-40B4-BE49-F238E27FC236}">
                <a16:creationId xmlns:a16="http://schemas.microsoft.com/office/drawing/2014/main" id="{C782AC56-35AA-4891-8CB7-2E5049D39959}"/>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Frontend, hôte Docker, Supabase, Auth et accès réseau.</a:t>
            </a:r>
          </a:p>
        </p:txBody>
      </p:sp>
      <p:sp>
        <p:nvSpPr>
          <p:cNvPr id="4" name="text">
            <a:extLst>
              <a:ext uri="{FF2B5EF4-FFF2-40B4-BE49-F238E27FC236}">
                <a16:creationId xmlns:a16="http://schemas.microsoft.com/office/drawing/2014/main" id="{33FEBC06-5B81-4C34-864A-9C3C48CE3CD6}"/>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Preuve attendue</a:t>
            </a:r>
          </a:p>
        </p:txBody>
      </p:sp>
      <p:sp>
        <p:nvSpPr>
          <p:cNvPr id="5" name="text">
            <a:extLst>
              <a:ext uri="{FF2B5EF4-FFF2-40B4-BE49-F238E27FC236}">
                <a16:creationId xmlns:a16="http://schemas.microsoft.com/office/drawing/2014/main" id="{02775334-0E11-4C48-AE5F-223285912AF0}"/>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Restauration testée du schéma, des données et des permissions.</a:t>
            </a:r>
          </a:p>
        </p:txBody>
      </p:sp>
      <p:sp>
        <p:nvSpPr>
          <p:cNvPr id="6" name="text">
            <a:extLst>
              <a:ext uri="{FF2B5EF4-FFF2-40B4-BE49-F238E27FC236}">
                <a16:creationId xmlns:a16="http://schemas.microsoft.com/office/drawing/2014/main" id="{B81D5953-D1AE-47D9-950B-E93BA83207EB}"/>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Décisions métier</a:t>
            </a:r>
          </a:p>
        </p:txBody>
      </p:sp>
      <p:sp>
        <p:nvSpPr>
          <p:cNvPr id="7" name="text">
            <a:extLst>
              <a:ext uri="{FF2B5EF4-FFF2-40B4-BE49-F238E27FC236}">
                <a16:creationId xmlns:a16="http://schemas.microsoft.com/office/drawing/2014/main" id="{DBA30B85-732B-4A3B-90A5-FF23876D9FA2}"/>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Durée d'interruption tolérée, perte de données tolérée et mode dégradé.</a:t>
            </a:r>
          </a:p>
        </p:txBody>
      </p:sp>
      <p:sp>
        <p:nvSpPr>
          <p:cNvPr id="8" name="text">
            <a:extLst>
              <a:ext uri="{FF2B5EF4-FFF2-40B4-BE49-F238E27FC236}">
                <a16:creationId xmlns:a16="http://schemas.microsoft.com/office/drawing/2014/main" id="{A1B11D65-520C-4820-9C4B-2645D44FCA5A}"/>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Une sauvegarde déclarée devient utile après une restauration réussie</a:t>
            </a:r>
          </a:p>
        </p:txBody>
      </p:sp>
      <p:sp>
        <p:nvSpPr>
          <p:cNvPr id="9" name="text">
            <a:extLst>
              <a:ext uri="{FF2B5EF4-FFF2-40B4-BE49-F238E27FC236}">
                <a16:creationId xmlns:a16="http://schemas.microsoft.com/office/drawing/2014/main" id="{B384930B-6701-40CA-95F3-6A249513B55C}"/>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19</a:t>
            </a:r>
          </a:p>
        </p:txBody>
      </p:sp>
    </p:spTree>
    <p:extLst>
      <p:ext uri="{BB962C8B-B14F-4D97-AF65-F5344CB8AC3E}">
        <p14:creationId xmlns:p14="http://schemas.microsoft.com/office/powerpoint/2010/main" val="9515907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1195700C-9134-40C3-8C45-895049401CC2}"/>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CI et preuves de non-régression</a:t>
            </a:r>
          </a:p>
        </p:txBody>
      </p:sp>
      <p:graphicFrame>
        <p:nvGraphicFramePr>
          <p:cNvPr id="2" name="Tableau 1">
            <a:extLst>
              <a:ext uri="{FF2B5EF4-FFF2-40B4-BE49-F238E27FC236}">
                <a16:creationId xmlns:a16="http://schemas.microsoft.com/office/drawing/2014/main" id="{B720E362-FE06-4ED5-ADDD-9B4C136CE83A}"/>
              </a:ext>
            </a:extLst>
          </p:cNvPr>
          <p:cNvGraphicFramePr/>
          <p:nvPr/>
        </p:nvGraphicFramePr>
        <p:xfrm>
          <a:off x="685800" y="1809750"/>
          <a:ext cx="10820400" cy="3667125"/>
        </p:xfrm>
        <a:graphic>
          <a:graphicData uri="http://schemas.openxmlformats.org/drawingml/2006/table">
            <a:tbl>
              <a:tblPr/>
              <a:tblGrid>
                <a:gridCol w="3857625">
                  <a:extLst>
                    <a:ext uri="{9D8B030D-6E8A-4147-A177-3AD203B41FA5}">
                      <a16:colId xmlns:a16="http://schemas.microsoft.com/office/drawing/2014/main" val="20000"/>
                    </a:ext>
                  </a:extLst>
                </a:gridCol>
                <a:gridCol w="6962775">
                  <a:extLst>
                    <a:ext uri="{9D8B030D-6E8A-4147-A177-3AD203B41FA5}">
                      <a16:colId xmlns:a16="http://schemas.microsoft.com/office/drawing/2014/main" val="20001"/>
                    </a:ext>
                  </a:extLst>
                </a:gridCol>
              </a:tblGrid>
              <a:tr h="733425">
                <a:tc>
                  <a:txBody>
                    <a:bodyPr/>
                    <a:lstStyle/>
                    <a:p>
                      <a:r>
                        <a:rPr sz="1800" b="1">
                          <a:solidFill>
                            <a:srgbClr val="FFFFFF"/>
                          </a:solidFill>
                          <a:latin typeface="Arial"/>
                          <a:ea typeface="Arial"/>
                          <a:cs typeface="Arial"/>
                        </a:rPr>
                        <a:t>Contrôle</a:t>
                      </a:r>
                    </a:p>
                  </a:txBody>
                  <a:tcPr anchor="ctr">
                    <a:solidFill>
                      <a:srgbClr val="12304A"/>
                    </a:solidFill>
                  </a:tcPr>
                </a:tc>
                <a:tc>
                  <a:txBody>
                    <a:bodyPr/>
                    <a:lstStyle/>
                    <a:p>
                      <a:r>
                        <a:rPr sz="1800" b="1">
                          <a:solidFill>
                            <a:srgbClr val="FFFFFF"/>
                          </a:solidFill>
                          <a:latin typeface="Arial"/>
                          <a:ea typeface="Arial"/>
                          <a:cs typeface="Arial"/>
                        </a:rPr>
                        <a:t>État courant</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Installation / audit</a:t>
                      </a:r>
                    </a:p>
                  </a:txBody>
                  <a:tcPr anchor="ctr">
                    <a:solidFill>
                      <a:srgbClr val="FFFFFF"/>
                    </a:solidFill>
                  </a:tcPr>
                </a:tc>
                <a:tc>
                  <a:txBody>
                    <a:bodyPr/>
                    <a:lstStyle/>
                    <a:p>
                      <a:r>
                        <a:rPr sz="1800" b="0">
                          <a:solidFill>
                            <a:srgbClr val="193445"/>
                          </a:solidFill>
                          <a:latin typeface="Arial"/>
                          <a:ea typeface="Arial"/>
                          <a:cs typeface="Arial"/>
                        </a:rPr>
                        <a:t>npm ci --ignore-scripts et audit npm en CI</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Jest / exports / build</a:t>
                      </a:r>
                    </a:p>
                  </a:txBody>
                  <a:tcPr anchor="ctr">
                    <a:solidFill>
                      <a:srgbClr val="EEF3F6"/>
                    </a:solidFill>
                  </a:tcPr>
                </a:tc>
                <a:tc>
                  <a:txBody>
                    <a:bodyPr/>
                    <a:lstStyle/>
                    <a:p>
                      <a:r>
                        <a:rPr sz="1800" b="0">
                          <a:solidFill>
                            <a:srgbClr val="193445"/>
                          </a:solidFill>
                          <a:latin typeface="Arial"/>
                          <a:ea typeface="Arial"/>
                          <a:cs typeface="Arial"/>
                        </a:rPr>
                        <a:t>Exécutés par le workflow déclaré</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Droits SQL</a:t>
                      </a:r>
                    </a:p>
                  </a:txBody>
                  <a:tcPr anchor="ctr">
                    <a:solidFill>
                      <a:srgbClr val="FFFFFF"/>
                    </a:solidFill>
                  </a:tcPr>
                </a:tc>
                <a:tc>
                  <a:txBody>
                    <a:bodyPr/>
                    <a:lstStyle/>
                    <a:p>
                      <a:r>
                        <a:rPr sz="1800" b="0">
                          <a:solidFill>
                            <a:srgbClr val="193445"/>
                          </a:solidFill>
                          <a:latin typeface="Arial"/>
                          <a:ea typeface="Arial"/>
                          <a:cs typeface="Arial"/>
                        </a:rPr>
                        <a:t>Scripts présents, hors du npm test de la CI</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Images et outils</a:t>
                      </a:r>
                    </a:p>
                  </a:txBody>
                  <a:tcPr anchor="ctr">
                    <a:solidFill>
                      <a:srgbClr val="EEF3F6"/>
                    </a:solidFill>
                  </a:tcPr>
                </a:tc>
                <a:tc>
                  <a:txBody>
                    <a:bodyPr/>
                    <a:lstStyle/>
                    <a:p>
                      <a:r>
                        <a:rPr sz="1800" b="0">
                          <a:solidFill>
                            <a:srgbClr val="193445"/>
                          </a:solidFill>
                          <a:latin typeface="Arial"/>
                          <a:ea typeface="Arial"/>
                          <a:cs typeface="Arial"/>
                        </a:rPr>
                        <a:t>Tags d'images et versions à stabiliser</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13617179-2F90-4245-B590-4E5C93BFC776}"/>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Proposition : une CI SQL isolée avec succès autorisés et refus attendus</a:t>
            </a:r>
          </a:p>
        </p:txBody>
      </p:sp>
      <p:sp>
        <p:nvSpPr>
          <p:cNvPr id="4" name="text">
            <a:extLst>
              <a:ext uri="{FF2B5EF4-FFF2-40B4-BE49-F238E27FC236}">
                <a16:creationId xmlns:a16="http://schemas.microsoft.com/office/drawing/2014/main" id="{9E0AC33E-7034-44FB-B7B9-777ECD908187}"/>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20</a:t>
            </a:r>
          </a:p>
        </p:txBody>
      </p:sp>
    </p:spTree>
    <p:extLst>
      <p:ext uri="{BB962C8B-B14F-4D97-AF65-F5344CB8AC3E}">
        <p14:creationId xmlns:p14="http://schemas.microsoft.com/office/powerpoint/2010/main" val="145596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92D9F4A9-4E93-461F-AEA6-5EAAC7E4DF1F}"/>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Choix de protection côté serveur</a:t>
            </a:r>
          </a:p>
        </p:txBody>
      </p:sp>
      <p:graphicFrame>
        <p:nvGraphicFramePr>
          <p:cNvPr id="2" name="Tableau 1">
            <a:extLst>
              <a:ext uri="{FF2B5EF4-FFF2-40B4-BE49-F238E27FC236}">
                <a16:creationId xmlns:a16="http://schemas.microsoft.com/office/drawing/2014/main" id="{6336B782-4895-465F-A7FE-F4694C7E5B4E}"/>
              </a:ext>
            </a:extLst>
          </p:cNvPr>
          <p:cNvGraphicFramePr/>
          <p:nvPr/>
        </p:nvGraphicFramePr>
        <p:xfrm>
          <a:off x="685800" y="1809750"/>
          <a:ext cx="10820400" cy="3429000"/>
        </p:xfrm>
        <a:graphic>
          <a:graphicData uri="http://schemas.openxmlformats.org/drawingml/2006/table">
            <a:tbl>
              <a:tblPr/>
              <a:tblGrid>
                <a:gridCol w="2762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57650">
                  <a:extLst>
                    <a:ext uri="{9D8B030D-6E8A-4147-A177-3AD203B41FA5}">
                      <a16:colId xmlns:a16="http://schemas.microsoft.com/office/drawing/2014/main" val="20002"/>
                    </a:ext>
                  </a:extLst>
                </a:gridCol>
              </a:tblGrid>
              <a:tr h="857250">
                <a:tc>
                  <a:txBody>
                    <a:bodyPr/>
                    <a:lstStyle/>
                    <a:p>
                      <a:r>
                        <a:rPr sz="1800" b="1">
                          <a:solidFill>
                            <a:srgbClr val="FFFFFF"/>
                          </a:solidFill>
                          <a:latin typeface="Arial"/>
                          <a:ea typeface="Arial"/>
                          <a:cs typeface="Arial"/>
                        </a:rPr>
                        <a:t>Option</a:t>
                      </a:r>
                    </a:p>
                  </a:txBody>
                  <a:tcPr anchor="ctr">
                    <a:solidFill>
                      <a:srgbClr val="12304A"/>
                    </a:solidFill>
                  </a:tcPr>
                </a:tc>
                <a:tc>
                  <a:txBody>
                    <a:bodyPr/>
                    <a:lstStyle/>
                    <a:p>
                      <a:r>
                        <a:rPr sz="1800" b="1">
                          <a:solidFill>
                            <a:srgbClr val="FFFFFF"/>
                          </a:solidFill>
                          <a:latin typeface="Arial"/>
                          <a:ea typeface="Arial"/>
                          <a:cs typeface="Arial"/>
                        </a:rPr>
                        <a:t>Mécanisme</a:t>
                      </a:r>
                    </a:p>
                  </a:txBody>
                  <a:tcPr anchor="ctr">
                    <a:solidFill>
                      <a:srgbClr val="12304A"/>
                    </a:solidFill>
                  </a:tcPr>
                </a:tc>
                <a:tc>
                  <a:txBody>
                    <a:bodyPr/>
                    <a:lstStyle/>
                    <a:p>
                      <a:r>
                        <a:rPr sz="1800" b="1">
                          <a:solidFill>
                            <a:srgbClr val="FFFFFF"/>
                          </a:solidFill>
                          <a:latin typeface="Arial"/>
                          <a:ea typeface="Arial"/>
                          <a:cs typeface="Arial"/>
                        </a:rPr>
                        <a:t>Arbitrage</a:t>
                      </a:r>
                    </a:p>
                  </a:txBody>
                  <a:tcPr anchor="ctr">
                    <a:solidFill>
                      <a:srgbClr val="12304A"/>
                    </a:solidFill>
                  </a:tcPr>
                </a:tc>
                <a:extLst>
                  <a:ext uri="{0D108BD9-81ED-4DB2-BD59-A6C34878D82A}">
                    <a16:rowId xmlns:a16="http://schemas.microsoft.com/office/drawing/2014/main" val="10000"/>
                  </a:ext>
                </a:extLst>
              </a:tr>
              <a:tr h="857250">
                <a:tc>
                  <a:txBody>
                    <a:bodyPr/>
                    <a:lstStyle/>
                    <a:p>
                      <a:r>
                        <a:rPr sz="1800" b="0">
                          <a:solidFill>
                            <a:srgbClr val="193445"/>
                          </a:solidFill>
                          <a:latin typeface="Arial"/>
                          <a:ea typeface="Arial"/>
                          <a:cs typeface="Arial"/>
                        </a:rPr>
                        <a:t>1 · SQL ciblé</a:t>
                      </a:r>
                    </a:p>
                  </a:txBody>
                  <a:tcPr anchor="ctr">
                    <a:solidFill>
                      <a:srgbClr val="FFFFFF"/>
                    </a:solidFill>
                  </a:tcPr>
                </a:tc>
                <a:tc>
                  <a:txBody>
                    <a:bodyPr/>
                    <a:lstStyle/>
                    <a:p>
                      <a:r>
                        <a:rPr sz="1800" b="0">
                          <a:solidFill>
                            <a:srgbClr val="193445"/>
                          </a:solidFill>
                          <a:latin typeface="Arial"/>
                          <a:ea typeface="Arial"/>
                          <a:cs typeface="Arial"/>
                        </a:rPr>
                        <a:t>RLS et triggers par table</a:t>
                      </a:r>
                    </a:p>
                  </a:txBody>
                  <a:tcPr anchor="ctr">
                    <a:solidFill>
                      <a:srgbClr val="FFFFFF"/>
                    </a:solidFill>
                  </a:tcPr>
                </a:tc>
                <a:tc>
                  <a:txBody>
                    <a:bodyPr/>
                    <a:lstStyle/>
                    <a:p>
                      <a:r>
                        <a:rPr sz="1800" b="0">
                          <a:solidFill>
                            <a:srgbClr val="193445"/>
                          </a:solidFill>
                          <a:latin typeface="Arial"/>
                          <a:ea typeface="Arial"/>
                          <a:cs typeface="Arial"/>
                        </a:rPr>
                        <a:t>Moins de changements, règles dispersées</a:t>
                      </a:r>
                    </a:p>
                  </a:txBody>
                  <a:tcPr anchor="ctr">
                    <a:solidFill>
                      <a:srgbClr val="FFFFFF"/>
                    </a:solidFill>
                  </a:tcPr>
                </a:tc>
                <a:extLst>
                  <a:ext uri="{0D108BD9-81ED-4DB2-BD59-A6C34878D82A}">
                    <a16:rowId xmlns:a16="http://schemas.microsoft.com/office/drawing/2014/main" val="10001"/>
                  </a:ext>
                </a:extLst>
              </a:tr>
              <a:tr h="857250">
                <a:tc>
                  <a:txBody>
                    <a:bodyPr/>
                    <a:lstStyle/>
                    <a:p>
                      <a:r>
                        <a:rPr sz="1800" b="0">
                          <a:solidFill>
                            <a:srgbClr val="193445"/>
                          </a:solidFill>
                          <a:latin typeface="Arial"/>
                          <a:ea typeface="Arial"/>
                          <a:cs typeface="Arial"/>
                        </a:rPr>
                        <a:t>2 · SQL + RPC métier</a:t>
                      </a:r>
                    </a:p>
                  </a:txBody>
                  <a:tcPr anchor="ctr">
                    <a:solidFill>
                      <a:srgbClr val="EEF3F6"/>
                    </a:solidFill>
                  </a:tcPr>
                </a:tc>
                <a:tc>
                  <a:txBody>
                    <a:bodyPr/>
                    <a:lstStyle/>
                    <a:p>
                      <a:r>
                        <a:rPr sz="1800" b="0">
                          <a:solidFill>
                            <a:srgbClr val="193445"/>
                          </a:solidFill>
                          <a:latin typeface="Arial"/>
                          <a:ea typeface="Arial"/>
                          <a:cs typeface="Arial"/>
                        </a:rPr>
                        <a:t>Mutations sensibles transactionnelles</a:t>
                      </a:r>
                    </a:p>
                  </a:txBody>
                  <a:tcPr anchor="ctr">
                    <a:solidFill>
                      <a:srgbClr val="EEF3F6"/>
                    </a:solidFill>
                  </a:tcPr>
                </a:tc>
                <a:tc>
                  <a:txBody>
                    <a:bodyPr/>
                    <a:lstStyle/>
                    <a:p>
                      <a:r>
                        <a:rPr sz="1800" b="0">
                          <a:solidFill>
                            <a:srgbClr val="193445"/>
                          </a:solidFill>
                          <a:latin typeface="Arial"/>
                          <a:ea typeface="Arial"/>
                          <a:cs typeface="Arial"/>
                        </a:rPr>
                        <a:t>Recommandée pour le pilote</a:t>
                      </a:r>
                    </a:p>
                  </a:txBody>
                  <a:tcPr anchor="ctr">
                    <a:solidFill>
                      <a:srgbClr val="EEF3F6"/>
                    </a:solidFill>
                  </a:tcPr>
                </a:tc>
                <a:extLst>
                  <a:ext uri="{0D108BD9-81ED-4DB2-BD59-A6C34878D82A}">
                    <a16:rowId xmlns:a16="http://schemas.microsoft.com/office/drawing/2014/main" val="10002"/>
                  </a:ext>
                </a:extLst>
              </a:tr>
              <a:tr h="857250">
                <a:tc>
                  <a:txBody>
                    <a:bodyPr/>
                    <a:lstStyle/>
                    <a:p>
                      <a:r>
                        <a:rPr sz="1800" b="0">
                          <a:solidFill>
                            <a:srgbClr val="193445"/>
                          </a:solidFill>
                          <a:latin typeface="Arial"/>
                          <a:ea typeface="Arial"/>
                          <a:cs typeface="Arial"/>
                        </a:rPr>
                        <a:t>3 · API métier dédiée</a:t>
                      </a:r>
                    </a:p>
                  </a:txBody>
                  <a:tcPr anchor="ctr">
                    <a:solidFill>
                      <a:srgbClr val="FFFFFF"/>
                    </a:solidFill>
                  </a:tcPr>
                </a:tc>
                <a:tc>
                  <a:txBody>
                    <a:bodyPr/>
                    <a:lstStyle/>
                    <a:p>
                      <a:r>
                        <a:rPr sz="1800" b="0">
                          <a:solidFill>
                            <a:srgbClr val="193445"/>
                          </a:solidFill>
                          <a:latin typeface="Arial"/>
                          <a:ea typeface="Arial"/>
                          <a:cs typeface="Arial"/>
                        </a:rPr>
                        <a:t>Service central et droits SQL réduits</a:t>
                      </a:r>
                    </a:p>
                  </a:txBody>
                  <a:tcPr anchor="ctr">
                    <a:solidFill>
                      <a:srgbClr val="FFFFFF"/>
                    </a:solidFill>
                  </a:tcPr>
                </a:tc>
                <a:tc>
                  <a:txBody>
                    <a:bodyPr/>
                    <a:lstStyle/>
                    <a:p>
                      <a:r>
                        <a:rPr sz="1800" b="0">
                          <a:solidFill>
                            <a:srgbClr val="193445"/>
                          </a:solidFill>
                          <a:latin typeface="Arial"/>
                          <a:ea typeface="Arial"/>
                          <a:cs typeface="Arial"/>
                        </a:rPr>
                        <a:t>Plus d'exploitation et de migration</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3" name="text">
            <a:extLst>
              <a:ext uri="{FF2B5EF4-FFF2-40B4-BE49-F238E27FC236}">
                <a16:creationId xmlns:a16="http://schemas.microsoft.com/office/drawing/2014/main" id="{5B741C89-4C39-47E5-9016-BFAAC57391DA}"/>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Option 2 proposée : conserver Angular / NgRx et consolider les transitions sensibles</a:t>
            </a:r>
          </a:p>
        </p:txBody>
      </p:sp>
      <p:sp>
        <p:nvSpPr>
          <p:cNvPr id="4" name="text">
            <a:extLst>
              <a:ext uri="{FF2B5EF4-FFF2-40B4-BE49-F238E27FC236}">
                <a16:creationId xmlns:a16="http://schemas.microsoft.com/office/drawing/2014/main" id="{C97CD8C6-150C-4AED-A409-B36407D012B0}"/>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21</a:t>
            </a:r>
          </a:p>
        </p:txBody>
      </p:sp>
    </p:spTree>
    <p:extLst>
      <p:ext uri="{BB962C8B-B14F-4D97-AF65-F5344CB8AC3E}">
        <p14:creationId xmlns:p14="http://schemas.microsoft.com/office/powerpoint/2010/main" val="1938252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2F8354A9-0156-4F66-A42A-D0D2B731A0CB}"/>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Plan proposé et critères de mise en service</a:t>
            </a:r>
          </a:p>
        </p:txBody>
      </p:sp>
      <p:graphicFrame>
        <p:nvGraphicFramePr>
          <p:cNvPr id="2" name="Tableau 1">
            <a:extLst>
              <a:ext uri="{FF2B5EF4-FFF2-40B4-BE49-F238E27FC236}">
                <a16:creationId xmlns:a16="http://schemas.microsoft.com/office/drawing/2014/main" id="{467C2C1C-C170-4889-A046-54F41E14B0F4}"/>
              </a:ext>
            </a:extLst>
          </p:cNvPr>
          <p:cNvGraphicFramePr/>
          <p:nvPr/>
        </p:nvGraphicFramePr>
        <p:xfrm>
          <a:off x="685800" y="1809750"/>
          <a:ext cx="10820400" cy="3667125"/>
        </p:xfrm>
        <a:graphic>
          <a:graphicData uri="http://schemas.openxmlformats.org/drawingml/2006/table">
            <a:tbl>
              <a:tblPr/>
              <a:tblGrid>
                <a:gridCol w="3286125">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3819525">
                  <a:extLst>
                    <a:ext uri="{9D8B030D-6E8A-4147-A177-3AD203B41FA5}">
                      <a16:colId xmlns:a16="http://schemas.microsoft.com/office/drawing/2014/main" val="20002"/>
                    </a:ext>
                  </a:extLst>
                </a:gridCol>
              </a:tblGrid>
              <a:tr h="733425">
                <a:tc>
                  <a:txBody>
                    <a:bodyPr/>
                    <a:lstStyle/>
                    <a:p>
                      <a:r>
                        <a:rPr sz="1800" b="1">
                          <a:solidFill>
                            <a:srgbClr val="FFFFFF"/>
                          </a:solidFill>
                          <a:latin typeface="Arial"/>
                          <a:ea typeface="Arial"/>
                          <a:cs typeface="Arial"/>
                        </a:rPr>
                        <a:t>Étape</a:t>
                      </a:r>
                    </a:p>
                  </a:txBody>
                  <a:tcPr anchor="ctr">
                    <a:solidFill>
                      <a:srgbClr val="12304A"/>
                    </a:solidFill>
                  </a:tcPr>
                </a:tc>
                <a:tc>
                  <a:txBody>
                    <a:bodyPr/>
                    <a:lstStyle/>
                    <a:p>
                      <a:r>
                        <a:rPr sz="1800" b="1">
                          <a:solidFill>
                            <a:srgbClr val="FFFFFF"/>
                          </a:solidFill>
                          <a:latin typeface="Arial"/>
                          <a:ea typeface="Arial"/>
                          <a:cs typeface="Arial"/>
                        </a:rPr>
                        <a:t>Responsables à désigner</a:t>
                      </a:r>
                    </a:p>
                  </a:txBody>
                  <a:tcPr anchor="ctr">
                    <a:solidFill>
                      <a:srgbClr val="12304A"/>
                    </a:solidFill>
                  </a:tcPr>
                </a:tc>
                <a:tc>
                  <a:txBody>
                    <a:bodyPr/>
                    <a:lstStyle/>
                    <a:p>
                      <a:r>
                        <a:rPr sz="1800" b="1">
                          <a:solidFill>
                            <a:srgbClr val="FFFFFF"/>
                          </a:solidFill>
                          <a:latin typeface="Arial"/>
                          <a:ea typeface="Arial"/>
                          <a:cs typeface="Arial"/>
                        </a:rPr>
                        <a:t>Preuve de sortie</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A · Périmètre / admission</a:t>
                      </a:r>
                    </a:p>
                  </a:txBody>
                  <a:tcPr anchor="ctr">
                    <a:solidFill>
                      <a:srgbClr val="FFFFFF"/>
                    </a:solidFill>
                  </a:tcPr>
                </a:tc>
                <a:tc>
                  <a:txBody>
                    <a:bodyPr/>
                    <a:lstStyle/>
                    <a:p>
                      <a:r>
                        <a:rPr sz="1800" b="0">
                          <a:solidFill>
                            <a:srgbClr val="193445"/>
                          </a:solidFill>
                          <a:latin typeface="Arial"/>
                          <a:ea typeface="Arial"/>
                          <a:cs typeface="Arial"/>
                        </a:rPr>
                        <a:t>Métier, RSSI, DPO</a:t>
                      </a:r>
                    </a:p>
                  </a:txBody>
                  <a:tcPr anchor="ctr">
                    <a:solidFill>
                      <a:srgbClr val="FFFFFF"/>
                    </a:solidFill>
                  </a:tcPr>
                </a:tc>
                <a:tc>
                  <a:txBody>
                    <a:bodyPr/>
                    <a:lstStyle/>
                    <a:p>
                      <a:r>
                        <a:rPr sz="1800" b="0">
                          <a:solidFill>
                            <a:srgbClr val="193445"/>
                          </a:solidFill>
                          <a:latin typeface="Arial"/>
                          <a:ea typeface="Arial"/>
                          <a:cs typeface="Arial"/>
                        </a:rPr>
                        <a:t>Matrice et audience approuvées</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B · Droits / workflow</a:t>
                      </a:r>
                    </a:p>
                  </a:txBody>
                  <a:tcPr anchor="ctr">
                    <a:solidFill>
                      <a:srgbClr val="EEF3F6"/>
                    </a:solidFill>
                  </a:tcPr>
                </a:tc>
                <a:tc>
                  <a:txBody>
                    <a:bodyPr/>
                    <a:lstStyle/>
                    <a:p>
                      <a:r>
                        <a:rPr sz="1800" b="0">
                          <a:solidFill>
                            <a:srgbClr val="193445"/>
                          </a:solidFill>
                          <a:latin typeface="Arial"/>
                          <a:ea typeface="Arial"/>
                          <a:cs typeface="Arial"/>
                        </a:rPr>
                        <a:t>Développement, DBA</a:t>
                      </a:r>
                    </a:p>
                  </a:txBody>
                  <a:tcPr anchor="ctr">
                    <a:solidFill>
                      <a:srgbClr val="EEF3F6"/>
                    </a:solidFill>
                  </a:tcPr>
                </a:tc>
                <a:tc>
                  <a:txBody>
                    <a:bodyPr/>
                    <a:lstStyle/>
                    <a:p>
                      <a:r>
                        <a:rPr sz="1800" b="0">
                          <a:solidFill>
                            <a:srgbClr val="193445"/>
                          </a:solidFill>
                          <a:latin typeface="Arial"/>
                          <a:ea typeface="Arial"/>
                          <a:cs typeface="Arial"/>
                        </a:rPr>
                        <a:t>Tests SQL/API des quatre constats</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C · Exploitation</a:t>
                      </a:r>
                    </a:p>
                  </a:txBody>
                  <a:tcPr anchor="ctr">
                    <a:solidFill>
                      <a:srgbClr val="FFFFFF"/>
                    </a:solidFill>
                  </a:tcPr>
                </a:tc>
                <a:tc>
                  <a:txBody>
                    <a:bodyPr/>
                    <a:lstStyle/>
                    <a:p>
                      <a:r>
                        <a:rPr sz="1800" b="0">
                          <a:solidFill>
                            <a:srgbClr val="193445"/>
                          </a:solidFill>
                          <a:latin typeface="Arial"/>
                          <a:ea typeface="Arial"/>
                          <a:cs typeface="Arial"/>
                        </a:rPr>
                        <a:t>Équipe d'exploitation</a:t>
                      </a:r>
                    </a:p>
                  </a:txBody>
                  <a:tcPr anchor="ctr">
                    <a:solidFill>
                      <a:srgbClr val="FFFFFF"/>
                    </a:solidFill>
                  </a:tcPr>
                </a:tc>
                <a:tc>
                  <a:txBody>
                    <a:bodyPr/>
                    <a:lstStyle/>
                    <a:p>
                      <a:r>
                        <a:rPr sz="1800" b="0">
                          <a:solidFill>
                            <a:srgbClr val="193445"/>
                          </a:solidFill>
                          <a:latin typeface="Arial"/>
                          <a:ea typeface="Arial"/>
                          <a:cs typeface="Arial"/>
                        </a:rPr>
                        <a:t>TLS, MFA, logs, restauration</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D · Recette / décision</a:t>
                      </a:r>
                    </a:p>
                  </a:txBody>
                  <a:tcPr anchor="ctr">
                    <a:solidFill>
                      <a:srgbClr val="EEF3F6"/>
                    </a:solidFill>
                  </a:tcPr>
                </a:tc>
                <a:tc>
                  <a:txBody>
                    <a:bodyPr/>
                    <a:lstStyle/>
                    <a:p>
                      <a:r>
                        <a:rPr sz="1800" b="0">
                          <a:solidFill>
                            <a:srgbClr val="193445"/>
                          </a:solidFill>
                          <a:latin typeface="Arial"/>
                          <a:ea typeface="Arial"/>
                          <a:cs typeface="Arial"/>
                        </a:rPr>
                        <a:t>Métier et autorité désignée</a:t>
                      </a:r>
                    </a:p>
                  </a:txBody>
                  <a:tcPr anchor="ctr">
                    <a:solidFill>
                      <a:srgbClr val="EEF3F6"/>
                    </a:solidFill>
                  </a:tcPr>
                </a:tc>
                <a:tc>
                  <a:txBody>
                    <a:bodyPr/>
                    <a:lstStyle/>
                    <a:p>
                      <a:r>
                        <a:rPr sz="1800" b="0">
                          <a:solidFill>
                            <a:srgbClr val="193445"/>
                          </a:solidFill>
                          <a:latin typeface="Arial"/>
                          <a:ea typeface="Arial"/>
                          <a:cs typeface="Arial"/>
                        </a:rPr>
                        <a:t>Risques résiduels et décision tracés</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1A34EC6D-4893-4F21-8E96-1FD6105A241C}"/>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Ordre proposé, sans budget ni échéance engagés. Déploiement vérifié avant décision</a:t>
            </a:r>
          </a:p>
        </p:txBody>
      </p:sp>
      <p:sp>
        <p:nvSpPr>
          <p:cNvPr id="4" name="text">
            <a:extLst>
              <a:ext uri="{FF2B5EF4-FFF2-40B4-BE49-F238E27FC236}">
                <a16:creationId xmlns:a16="http://schemas.microsoft.com/office/drawing/2014/main" id="{72C9BB78-9DFA-49A9-BE8F-C7FB4DD9F97E}"/>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22</a:t>
            </a:r>
          </a:p>
        </p:txBody>
      </p:sp>
    </p:spTree>
    <p:extLst>
      <p:ext uri="{BB962C8B-B14F-4D97-AF65-F5344CB8AC3E}">
        <p14:creationId xmlns:p14="http://schemas.microsoft.com/office/powerpoint/2010/main" val="1315543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304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54D0BB4D-DFF6-4B30-A521-3DEEFF9BCB30}"/>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FFFFFF"/>
                </a:solidFill>
                <a:latin typeface="Arial"/>
                <a:ea typeface="Arial"/>
                <a:cs typeface="Arial"/>
              </a:defRPr>
            </a:defPPr>
          </a:lstStyle>
          <a:p>
            <a:pPr>
              <a:defRPr sz="3300" b="1">
                <a:solidFill>
                  <a:srgbClr val="FFFFFF"/>
                </a:solidFill>
                <a:latin typeface="Arial"/>
                <a:ea typeface="Arial"/>
                <a:cs typeface="Arial"/>
              </a:defRPr>
            </a:pPr>
            <a:r>
              <a:rPr sz="3300" b="1">
                <a:solidFill>
                  <a:srgbClr val="FFFFFF"/>
                </a:solidFill>
                <a:latin typeface="Arial"/>
                <a:ea typeface="Arial"/>
                <a:cs typeface="Arial"/>
              </a:rPr>
              <a:t>Discussion et arbitrages</a:t>
            </a:r>
          </a:p>
        </p:txBody>
      </p:sp>
      <p:sp>
        <p:nvSpPr>
          <p:cNvPr id="2" name="text">
            <a:extLst>
              <a:ext uri="{FF2B5EF4-FFF2-40B4-BE49-F238E27FC236}">
                <a16:creationId xmlns:a16="http://schemas.microsoft.com/office/drawing/2014/main" id="{CCF0227A-70B8-4BD0-838A-7C571444D054}"/>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A5D3E0"/>
                </a:solidFill>
                <a:latin typeface="Arial"/>
                <a:ea typeface="Arial"/>
                <a:cs typeface="Arial"/>
              </a:defRPr>
            </a:defPPr>
          </a:lstStyle>
          <a:p>
            <a:pPr>
              <a:defRPr sz="1875" b="1">
                <a:solidFill>
                  <a:srgbClr val="A5D3E0"/>
                </a:solidFill>
                <a:latin typeface="Arial"/>
                <a:ea typeface="Arial"/>
                <a:cs typeface="Arial"/>
              </a:defRPr>
            </a:pPr>
            <a:r>
              <a:rPr sz="1875" b="1">
                <a:solidFill>
                  <a:srgbClr val="A5D3E0"/>
                </a:solidFill>
                <a:latin typeface="Arial"/>
                <a:ea typeface="Arial"/>
                <a:cs typeface="Arial"/>
              </a:rPr>
              <a:t>Audience et responsabilités</a:t>
            </a:r>
          </a:p>
        </p:txBody>
      </p:sp>
      <p:sp>
        <p:nvSpPr>
          <p:cNvPr id="3" name="text">
            <a:extLst>
              <a:ext uri="{FF2B5EF4-FFF2-40B4-BE49-F238E27FC236}">
                <a16:creationId xmlns:a16="http://schemas.microsoft.com/office/drawing/2014/main" id="{365171EB-BF06-43A4-A21E-43A2C205E347}"/>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FFFFFF"/>
                </a:solidFill>
                <a:latin typeface="Arial"/>
                <a:ea typeface="Arial"/>
                <a:cs typeface="Arial"/>
              </a:defRPr>
            </a:defPPr>
          </a:lstStyle>
          <a:p>
            <a:pPr>
              <a:defRPr sz="2025" b="0">
                <a:solidFill>
                  <a:srgbClr val="FFFFFF"/>
                </a:solidFill>
                <a:latin typeface="Arial"/>
                <a:ea typeface="Arial"/>
                <a:cs typeface="Arial"/>
              </a:defRPr>
            </a:pPr>
            <a:r>
              <a:rPr sz="2025" b="0">
                <a:solidFill>
                  <a:srgbClr val="FFFFFF"/>
                </a:solidFill>
                <a:latin typeface="Arial"/>
                <a:ea typeface="Arial"/>
                <a:cs typeface="Arial"/>
              </a:rPr>
              <a:t>Qui doit voir quelles données ? Qui administre, exploite et accepte le risque ?</a:t>
            </a:r>
          </a:p>
        </p:txBody>
      </p:sp>
      <p:sp>
        <p:nvSpPr>
          <p:cNvPr id="4" name="text">
            <a:extLst>
              <a:ext uri="{FF2B5EF4-FFF2-40B4-BE49-F238E27FC236}">
                <a16:creationId xmlns:a16="http://schemas.microsoft.com/office/drawing/2014/main" id="{0F2B9F46-90D2-4A0A-88A2-88F2BBBE7A03}"/>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A5D3E0"/>
                </a:solidFill>
                <a:latin typeface="Arial"/>
                <a:ea typeface="Arial"/>
                <a:cs typeface="Arial"/>
              </a:defRPr>
            </a:defPPr>
          </a:lstStyle>
          <a:p>
            <a:pPr>
              <a:defRPr sz="1875" b="1">
                <a:solidFill>
                  <a:srgbClr val="A5D3E0"/>
                </a:solidFill>
                <a:latin typeface="Arial"/>
                <a:ea typeface="Arial"/>
                <a:cs typeface="Arial"/>
              </a:defRPr>
            </a:pPr>
            <a:r>
              <a:rPr sz="1875" b="1">
                <a:solidFill>
                  <a:srgbClr val="A5D3E0"/>
                </a:solidFill>
                <a:latin typeface="Arial"/>
                <a:ea typeface="Arial"/>
                <a:cs typeface="Arial"/>
              </a:rPr>
              <a:t>Workflow RH</a:t>
            </a:r>
          </a:p>
        </p:txBody>
      </p:sp>
      <p:sp>
        <p:nvSpPr>
          <p:cNvPr id="5" name="text">
            <a:extLst>
              <a:ext uri="{FF2B5EF4-FFF2-40B4-BE49-F238E27FC236}">
                <a16:creationId xmlns:a16="http://schemas.microsoft.com/office/drawing/2014/main" id="{0458955B-71B0-41DF-A113-3F59B6836EEF}"/>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FFFFFF"/>
                </a:solidFill>
                <a:latin typeface="Arial"/>
                <a:ea typeface="Arial"/>
                <a:cs typeface="Arial"/>
              </a:defRPr>
            </a:defPPr>
          </a:lstStyle>
          <a:p>
            <a:pPr>
              <a:defRPr sz="2025" b="0">
                <a:solidFill>
                  <a:srgbClr val="FFFFFF"/>
                </a:solidFill>
                <a:latin typeface="Arial"/>
                <a:ea typeface="Arial"/>
                <a:cs typeface="Arial"/>
              </a:defRPr>
            </a:pPr>
            <a:r>
              <a:rPr sz="2025" b="0">
                <a:solidFill>
                  <a:srgbClr val="FFFFFF"/>
                </a:solidFill>
                <a:latin typeface="Arial"/>
                <a:ea typeface="Arial"/>
                <a:cs typeface="Arial"/>
              </a:rPr>
              <a:t>Que prouve un visa ? Qui peut rouvrir ? Quel contenu doit rester figé ?</a:t>
            </a:r>
          </a:p>
        </p:txBody>
      </p:sp>
      <p:sp>
        <p:nvSpPr>
          <p:cNvPr id="6" name="text">
            <a:extLst>
              <a:ext uri="{FF2B5EF4-FFF2-40B4-BE49-F238E27FC236}">
                <a16:creationId xmlns:a16="http://schemas.microsoft.com/office/drawing/2014/main" id="{A0F037FC-A221-4DB3-A66E-5A3E712B3300}"/>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A5D3E0"/>
                </a:solidFill>
                <a:latin typeface="Arial"/>
                <a:ea typeface="Arial"/>
                <a:cs typeface="Arial"/>
              </a:defRPr>
            </a:defPPr>
          </a:lstStyle>
          <a:p>
            <a:pPr>
              <a:defRPr sz="1875" b="1">
                <a:solidFill>
                  <a:srgbClr val="A5D3E0"/>
                </a:solidFill>
                <a:latin typeface="Arial"/>
                <a:ea typeface="Arial"/>
                <a:cs typeface="Arial"/>
              </a:defRPr>
            </a:pPr>
            <a:r>
              <a:rPr sz="1875" b="1">
                <a:solidFill>
                  <a:srgbClr val="A5D3E0"/>
                </a:solidFill>
                <a:latin typeface="Arial"/>
                <a:ea typeface="Arial"/>
                <a:cs typeface="Arial"/>
              </a:rPr>
              <a:t>Passage en production</a:t>
            </a:r>
          </a:p>
        </p:txBody>
      </p:sp>
      <p:sp>
        <p:nvSpPr>
          <p:cNvPr id="7" name="text">
            <a:extLst>
              <a:ext uri="{FF2B5EF4-FFF2-40B4-BE49-F238E27FC236}">
                <a16:creationId xmlns:a16="http://schemas.microsoft.com/office/drawing/2014/main" id="{E7C50617-0FBB-4C19-8D3D-F8DC490E8E85}"/>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FFFFFF"/>
                </a:solidFill>
                <a:latin typeface="Arial"/>
                <a:ea typeface="Arial"/>
                <a:cs typeface="Arial"/>
              </a:defRPr>
            </a:defPPr>
          </a:lstStyle>
          <a:p>
            <a:pPr>
              <a:defRPr sz="2025" b="0">
                <a:solidFill>
                  <a:srgbClr val="FFFFFF"/>
                </a:solidFill>
                <a:latin typeface="Arial"/>
                <a:ea typeface="Arial"/>
                <a:cs typeface="Arial"/>
              </a:defRPr>
            </a:pPr>
            <a:r>
              <a:rPr sz="2025" b="0">
                <a:solidFill>
                  <a:srgbClr val="FFFFFF"/>
                </a:solidFill>
                <a:latin typeface="Arial"/>
                <a:ea typeface="Arial"/>
                <a:cs typeface="Arial"/>
              </a:rPr>
              <a:t>Quelles preuves et quels risques résiduels conditionnent la décision ?</a:t>
            </a:r>
          </a:p>
        </p:txBody>
      </p:sp>
      <p:sp>
        <p:nvSpPr>
          <p:cNvPr id="8" name="text">
            <a:extLst>
              <a:ext uri="{FF2B5EF4-FFF2-40B4-BE49-F238E27FC236}">
                <a16:creationId xmlns:a16="http://schemas.microsoft.com/office/drawing/2014/main" id="{9DFC7D81-374A-4093-BC26-67368ABC9F34}"/>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A5D3E0"/>
                </a:solidFill>
                <a:latin typeface="Arial"/>
                <a:ea typeface="Arial"/>
                <a:cs typeface="Arial"/>
              </a:defRPr>
            </a:defPPr>
          </a:lstStyle>
          <a:p>
            <a:pPr>
              <a:defRPr sz="1800" b="1">
                <a:solidFill>
                  <a:srgbClr val="A5D3E0"/>
                </a:solidFill>
                <a:latin typeface="Arial"/>
                <a:ea typeface="Arial"/>
                <a:cs typeface="Arial"/>
              </a:defRPr>
            </a:pPr>
            <a:r>
              <a:rPr sz="1800" b="1">
                <a:solidFill>
                  <a:srgbClr val="A5D3E0"/>
                </a:solidFill>
                <a:latin typeface="Arial"/>
                <a:ea typeface="Arial"/>
                <a:cs typeface="Arial"/>
              </a:rPr>
              <a:t>Sortie attendue : responsables désignés et critères de recette partagés</a:t>
            </a:r>
          </a:p>
        </p:txBody>
      </p:sp>
      <p:sp>
        <p:nvSpPr>
          <p:cNvPr id="9" name="text">
            <a:extLst>
              <a:ext uri="{FF2B5EF4-FFF2-40B4-BE49-F238E27FC236}">
                <a16:creationId xmlns:a16="http://schemas.microsoft.com/office/drawing/2014/main" id="{C4A172CE-A6A0-45F1-A744-88DB7BF4DDC4}"/>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A5D3E0"/>
                </a:solidFill>
                <a:latin typeface="Arial"/>
                <a:ea typeface="Arial"/>
                <a:cs typeface="Arial"/>
              </a:defRPr>
            </a:defPPr>
          </a:lstStyle>
          <a:p>
            <a:pPr>
              <a:defRPr sz="1200" b="0">
                <a:solidFill>
                  <a:srgbClr val="A5D3E0"/>
                </a:solidFill>
                <a:latin typeface="Arial"/>
                <a:ea typeface="Arial"/>
                <a:cs typeface="Arial"/>
              </a:defRPr>
            </a:pPr>
            <a:r>
              <a:rPr sz="1200" b="0">
                <a:solidFill>
                  <a:srgbClr val="A5D3E0"/>
                </a:solidFill>
                <a:latin typeface="Arial"/>
                <a:ea typeface="Arial"/>
                <a:cs typeface="Arial"/>
              </a:rPr>
              <a:t>Astreintes · RSSI · 23</a:t>
            </a:r>
          </a:p>
        </p:txBody>
      </p:sp>
    </p:spTree>
    <p:extLst>
      <p:ext uri="{BB962C8B-B14F-4D97-AF65-F5344CB8AC3E}">
        <p14:creationId xmlns:p14="http://schemas.microsoft.com/office/powerpoint/2010/main" val="1939091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D815F410-524F-44B0-A5BF-4F99290DC1AD}"/>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Annexe · Preuves des quatre constats</a:t>
            </a:r>
          </a:p>
        </p:txBody>
      </p:sp>
      <p:graphicFrame>
        <p:nvGraphicFramePr>
          <p:cNvPr id="2" name="Tableau 1">
            <a:extLst>
              <a:ext uri="{FF2B5EF4-FFF2-40B4-BE49-F238E27FC236}">
                <a16:creationId xmlns:a16="http://schemas.microsoft.com/office/drawing/2014/main" id="{F491E819-C98B-4442-ADE0-8054115BAB35}"/>
              </a:ext>
            </a:extLst>
          </p:cNvPr>
          <p:cNvGraphicFramePr/>
          <p:nvPr/>
        </p:nvGraphicFramePr>
        <p:xfrm>
          <a:off x="685800" y="1809750"/>
          <a:ext cx="10820400" cy="3667125"/>
        </p:xfrm>
        <a:graphic>
          <a:graphicData uri="http://schemas.openxmlformats.org/drawingml/2006/table">
            <a:tbl>
              <a:tblPr/>
              <a:tblGrid>
                <a:gridCol w="2714625">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4295775">
                  <a:extLst>
                    <a:ext uri="{9D8B030D-6E8A-4147-A177-3AD203B41FA5}">
                      <a16:colId xmlns:a16="http://schemas.microsoft.com/office/drawing/2014/main" val="20002"/>
                    </a:ext>
                  </a:extLst>
                </a:gridCol>
              </a:tblGrid>
              <a:tr h="733425">
                <a:tc>
                  <a:txBody>
                    <a:bodyPr/>
                    <a:lstStyle/>
                    <a:p>
                      <a:r>
                        <a:rPr sz="1800" b="1">
                          <a:solidFill>
                            <a:srgbClr val="FFFFFF"/>
                          </a:solidFill>
                          <a:latin typeface="Arial"/>
                          <a:ea typeface="Arial"/>
                          <a:cs typeface="Arial"/>
                        </a:rPr>
                        <a:t>Constat</a:t>
                      </a:r>
                    </a:p>
                  </a:txBody>
                  <a:tcPr anchor="ctr">
                    <a:solidFill>
                      <a:srgbClr val="12304A"/>
                    </a:solidFill>
                  </a:tcPr>
                </a:tc>
                <a:tc>
                  <a:txBody>
                    <a:bodyPr/>
                    <a:lstStyle/>
                    <a:p>
                      <a:r>
                        <a:rPr sz="1800" b="1">
                          <a:solidFill>
                            <a:srgbClr val="FFFFFF"/>
                          </a:solidFill>
                          <a:latin typeface="Arial"/>
                          <a:ea typeface="Arial"/>
                          <a:cs typeface="Arial"/>
                        </a:rPr>
                        <a:t>Contrôle source</a:t>
                      </a:r>
                    </a:p>
                  </a:txBody>
                  <a:tcPr anchor="ctr">
                    <a:solidFill>
                      <a:srgbClr val="12304A"/>
                    </a:solidFill>
                  </a:tcPr>
                </a:tc>
                <a:tc>
                  <a:txBody>
                    <a:bodyPr/>
                    <a:lstStyle/>
                    <a:p>
                      <a:r>
                        <a:rPr sz="1800" b="1">
                          <a:solidFill>
                            <a:srgbClr val="FFFFFF"/>
                          </a:solidFill>
                          <a:latin typeface="Arial"/>
                          <a:ea typeface="Arial"/>
                          <a:cs typeface="Arial"/>
                        </a:rPr>
                        <a:t>Consommateur</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R1 · Lectures</a:t>
                      </a:r>
                    </a:p>
                  </a:txBody>
                  <a:tcPr anchor="ctr">
                    <a:solidFill>
                      <a:srgbClr val="FFFFFF"/>
                    </a:solidFill>
                  </a:tcPr>
                </a:tc>
                <a:tc>
                  <a:txBody>
                    <a:bodyPr/>
                    <a:lstStyle/>
                    <a:p>
                      <a:r>
                        <a:rPr sz="1800" b="0">
                          <a:solidFill>
                            <a:srgbClr val="193445"/>
                          </a:solidFill>
                          <a:latin typeface="Arial"/>
                          <a:ea typeface="Arial"/>
                          <a:cs typeface="Arial"/>
                        </a:rPr>
                        <a:t>schema.sql:974,1075</a:t>
                      </a:r>
                    </a:p>
                  </a:txBody>
                  <a:tcPr anchor="ctr">
                    <a:solidFill>
                      <a:srgbClr val="FFFFFF"/>
                    </a:solidFill>
                  </a:tcPr>
                </a:tc>
                <a:tc>
                  <a:txBody>
                    <a:bodyPr/>
                    <a:lstStyle/>
                    <a:p>
                      <a:r>
                        <a:rPr sz="1800" b="0">
                          <a:solidFill>
                            <a:srgbClr val="193445"/>
                          </a:solidFill>
                          <a:latin typeface="Arial"/>
                          <a:ea typeface="Arial"/>
                          <a:cs typeface="Arial"/>
                        </a:rPr>
                        <a:t>exceptional.repository.ts:34</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R2 · Visas</a:t>
                      </a:r>
                    </a:p>
                  </a:txBody>
                  <a:tcPr anchor="ctr">
                    <a:solidFill>
                      <a:srgbClr val="EEF3F6"/>
                    </a:solidFill>
                  </a:tcPr>
                </a:tc>
                <a:tc>
                  <a:txBody>
                    <a:bodyPr/>
                    <a:lstStyle/>
                    <a:p>
                      <a:r>
                        <a:rPr sz="1800" b="0">
                          <a:solidFill>
                            <a:srgbClr val="193445"/>
                          </a:solidFill>
                          <a:latin typeface="Arial"/>
                          <a:ea typeface="Arial"/>
                          <a:cs typeface="Arial"/>
                        </a:rPr>
                        <a:t>schema.sql:971-974</a:t>
                      </a:r>
                    </a:p>
                  </a:txBody>
                  <a:tcPr anchor="ctr">
                    <a:solidFill>
                      <a:srgbClr val="EEF3F6"/>
                    </a:solidFill>
                  </a:tcPr>
                </a:tc>
                <a:tc>
                  <a:txBody>
                    <a:bodyPr/>
                    <a:lstStyle/>
                    <a:p>
                      <a:r>
                        <a:rPr sz="1800" b="0">
                          <a:solidFill>
                            <a:srgbClr val="193445"/>
                          </a:solidFill>
                          <a:latin typeface="Arial"/>
                          <a:ea typeface="Arial"/>
                          <a:cs typeface="Arial"/>
                        </a:rPr>
                        <a:t>visas.repository.ts:33,43-67</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R3 · Verrou enfants</a:t>
                      </a:r>
                    </a:p>
                  </a:txBody>
                  <a:tcPr anchor="ctr">
                    <a:solidFill>
                      <a:srgbClr val="FFFFFF"/>
                    </a:solidFill>
                  </a:tcPr>
                </a:tc>
                <a:tc>
                  <a:txBody>
                    <a:bodyPr/>
                    <a:lstStyle/>
                    <a:p>
                      <a:r>
                        <a:rPr sz="1800" b="0">
                          <a:solidFill>
                            <a:srgbClr val="193445"/>
                          </a:solidFill>
                          <a:latin typeface="Arial"/>
                          <a:ea typeface="Arial"/>
                          <a:cs typeface="Arial"/>
                        </a:rPr>
                        <a:t>schema.sql:1159-1163,1211-1217</a:t>
                      </a:r>
                    </a:p>
                  </a:txBody>
                  <a:tcPr anchor="ctr">
                    <a:solidFill>
                      <a:srgbClr val="FFFFFF"/>
                    </a:solidFill>
                  </a:tcPr>
                </a:tc>
                <a:tc>
                  <a:txBody>
                    <a:bodyPr/>
                    <a:lstStyle/>
                    <a:p>
                      <a:r>
                        <a:rPr sz="1800" b="0">
                          <a:solidFill>
                            <a:srgbClr val="193445"/>
                          </a:solidFill>
                          <a:latin typeface="Arial"/>
                          <a:ea typeface="Arial"/>
                          <a:cs typeface="Arial"/>
                        </a:rPr>
                        <a:t>rh-exports.component.ts:257-274</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R4 · Calendrier</a:t>
                      </a:r>
                    </a:p>
                  </a:txBody>
                  <a:tcPr anchor="ctr">
                    <a:solidFill>
                      <a:srgbClr val="EEF3F6"/>
                    </a:solidFill>
                  </a:tcPr>
                </a:tc>
                <a:tc>
                  <a:txBody>
                    <a:bodyPr/>
                    <a:lstStyle/>
                    <a:p>
                      <a:r>
                        <a:rPr sz="1800" b="0">
                          <a:solidFill>
                            <a:srgbClr val="193445"/>
                          </a:solidFill>
                          <a:latin typeface="Arial"/>
                          <a:ea typeface="Arial"/>
                          <a:cs typeface="Arial"/>
                        </a:rPr>
                        <a:t>schema.sql:971-974</a:t>
                      </a:r>
                    </a:p>
                  </a:txBody>
                  <a:tcPr anchor="ctr">
                    <a:solidFill>
                      <a:srgbClr val="EEF3F6"/>
                    </a:solidFill>
                  </a:tcPr>
                </a:tc>
                <a:tc>
                  <a:txBody>
                    <a:bodyPr/>
                    <a:lstStyle/>
                    <a:p>
                      <a:r>
                        <a:rPr sz="1800" b="0">
                          <a:solidFill>
                            <a:srgbClr val="193445"/>
                          </a:solidFill>
                          <a:latin typeface="Arial"/>
                          <a:ea typeface="Arial"/>
                          <a:cs typeface="Arial"/>
                        </a:rPr>
                        <a:t>rh-export-calculations.ts:304</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D811DCC4-215D-4D1A-81C4-A980C94584B7}"/>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Chemins relatifs au dépôt source. Preuves détaillées dans le rapport de revue</a:t>
            </a:r>
          </a:p>
        </p:txBody>
      </p:sp>
      <p:sp>
        <p:nvSpPr>
          <p:cNvPr id="4" name="text">
            <a:extLst>
              <a:ext uri="{FF2B5EF4-FFF2-40B4-BE49-F238E27FC236}">
                <a16:creationId xmlns:a16="http://schemas.microsoft.com/office/drawing/2014/main" id="{5CFE522B-304F-4DDD-AD51-68F4D6D88C5C}"/>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Annexe · 24</a:t>
            </a:r>
          </a:p>
        </p:txBody>
      </p:sp>
    </p:spTree>
    <p:extLst>
      <p:ext uri="{BB962C8B-B14F-4D97-AF65-F5344CB8AC3E}">
        <p14:creationId xmlns:p14="http://schemas.microsoft.com/office/powerpoint/2010/main" val="12845969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5" name="text">
            <a:extLst>
              <a:ext uri="{FF2B5EF4-FFF2-40B4-BE49-F238E27FC236}">
                <a16:creationId xmlns:a16="http://schemas.microsoft.com/office/drawing/2014/main" id="{2BE906D2-BA56-4933-B5CA-2B6E80790B5E}"/>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Annexe · Recette directe SQL / API</a:t>
            </a:r>
          </a:p>
        </p:txBody>
      </p:sp>
      <p:graphicFrame>
        <p:nvGraphicFramePr>
          <p:cNvPr id="2" name="Tableau 1">
            <a:extLst>
              <a:ext uri="{FF2B5EF4-FFF2-40B4-BE49-F238E27FC236}">
                <a16:creationId xmlns:a16="http://schemas.microsoft.com/office/drawing/2014/main" id="{56321504-C0B5-4BAA-84DC-6402E9AC965D}"/>
              </a:ext>
            </a:extLst>
          </p:cNvPr>
          <p:cNvGraphicFramePr/>
          <p:nvPr/>
        </p:nvGraphicFramePr>
        <p:xfrm>
          <a:off x="685800" y="1809750"/>
          <a:ext cx="10820400" cy="3667125"/>
        </p:xfrm>
        <a:graphic>
          <a:graphicData uri="http://schemas.openxmlformats.org/drawingml/2006/table">
            <a:tbl>
              <a:tblPr/>
              <a:tblGrid>
                <a:gridCol w="4238625">
                  <a:extLst>
                    <a:ext uri="{9D8B030D-6E8A-4147-A177-3AD203B41FA5}">
                      <a16:colId xmlns:a16="http://schemas.microsoft.com/office/drawing/2014/main" val="20000"/>
                    </a:ext>
                  </a:extLst>
                </a:gridCol>
                <a:gridCol w="6581775">
                  <a:extLst>
                    <a:ext uri="{9D8B030D-6E8A-4147-A177-3AD203B41FA5}">
                      <a16:colId xmlns:a16="http://schemas.microsoft.com/office/drawing/2014/main" val="20001"/>
                    </a:ext>
                  </a:extLst>
                </a:gridCol>
              </a:tblGrid>
              <a:tr h="733425">
                <a:tc>
                  <a:txBody>
                    <a:bodyPr/>
                    <a:lstStyle/>
                    <a:p>
                      <a:r>
                        <a:rPr sz="1800" b="1">
                          <a:solidFill>
                            <a:srgbClr val="FFFFFF"/>
                          </a:solidFill>
                          <a:latin typeface="Arial"/>
                          <a:ea typeface="Arial"/>
                          <a:cs typeface="Arial"/>
                        </a:rPr>
                        <a:t>Test</a:t>
                      </a:r>
                    </a:p>
                  </a:txBody>
                  <a:tcPr anchor="ctr">
                    <a:solidFill>
                      <a:srgbClr val="12304A"/>
                    </a:solidFill>
                  </a:tcPr>
                </a:tc>
                <a:tc>
                  <a:txBody>
                    <a:bodyPr/>
                    <a:lstStyle/>
                    <a:p>
                      <a:r>
                        <a:rPr sz="1800" b="1">
                          <a:solidFill>
                            <a:srgbClr val="FFFFFF"/>
                          </a:solidFill>
                          <a:latin typeface="Arial"/>
                          <a:ea typeface="Arial"/>
                          <a:cs typeface="Arial"/>
                        </a:rPr>
                        <a:t>Résultat attendu</a:t>
                      </a:r>
                    </a:p>
                  </a:txBody>
                  <a:tcPr anchor="ctr">
                    <a:solidFill>
                      <a:srgbClr val="12304A"/>
                    </a:solidFill>
                  </a:tcPr>
                </a:tc>
                <a:extLst>
                  <a:ext uri="{0D108BD9-81ED-4DB2-BD59-A6C34878D82A}">
                    <a16:rowId xmlns:a16="http://schemas.microsoft.com/office/drawing/2014/main" val="10000"/>
                  </a:ext>
                </a:extLst>
              </a:tr>
              <a:tr h="733425">
                <a:tc>
                  <a:txBody>
                    <a:bodyPr/>
                    <a:lstStyle/>
                    <a:p>
                      <a:r>
                        <a:rPr sz="1800" b="0">
                          <a:solidFill>
                            <a:srgbClr val="193445"/>
                          </a:solidFill>
                          <a:latin typeface="Arial"/>
                          <a:ea typeface="Arial"/>
                          <a:cs typeface="Arial"/>
                        </a:rPr>
                        <a:t>Compte non participant</a:t>
                      </a:r>
                    </a:p>
                  </a:txBody>
                  <a:tcPr anchor="ctr">
                    <a:solidFill>
                      <a:srgbClr val="FFFFFF"/>
                    </a:solidFill>
                  </a:tcPr>
                </a:tc>
                <a:tc>
                  <a:txBody>
                    <a:bodyPr/>
                    <a:lstStyle/>
                    <a:p>
                      <a:r>
                        <a:rPr sz="1800" b="0">
                          <a:solidFill>
                            <a:srgbClr val="193445"/>
                          </a:solidFill>
                          <a:latin typeface="Arial"/>
                          <a:ea typeface="Arial"/>
                          <a:cs typeface="Arial"/>
                        </a:rPr>
                        <a:t>Lecture parent et enfants refusée</a:t>
                      </a:r>
                    </a:p>
                  </a:txBody>
                  <a:tcPr anchor="ctr">
                    <a:solidFill>
                      <a:srgbClr val="FFFFFF"/>
                    </a:solidFill>
                  </a:tcPr>
                </a:tc>
                <a:extLst>
                  <a:ext uri="{0D108BD9-81ED-4DB2-BD59-A6C34878D82A}">
                    <a16:rowId xmlns:a16="http://schemas.microsoft.com/office/drawing/2014/main" val="10001"/>
                  </a:ext>
                </a:extLst>
              </a:tr>
              <a:tr h="733425">
                <a:tc>
                  <a:txBody>
                    <a:bodyPr/>
                    <a:lstStyle/>
                    <a:p>
                      <a:r>
                        <a:rPr sz="1800" b="0">
                          <a:solidFill>
                            <a:srgbClr val="193445"/>
                          </a:solidFill>
                          <a:latin typeface="Arial"/>
                          <a:ea typeface="Arial"/>
                          <a:cs typeface="Arial"/>
                        </a:rPr>
                        <a:t>Utilisateur et visa directeur</a:t>
                      </a:r>
                    </a:p>
                  </a:txBody>
                  <a:tcPr anchor="ctr">
                    <a:solidFill>
                      <a:srgbClr val="EEF3F6"/>
                    </a:solidFill>
                  </a:tcPr>
                </a:tc>
                <a:tc>
                  <a:txBody>
                    <a:bodyPr/>
                    <a:lstStyle/>
                    <a:p>
                      <a:r>
                        <a:rPr sz="1800" b="0">
                          <a:solidFill>
                            <a:srgbClr val="193445"/>
                          </a:solidFill>
                          <a:latin typeface="Arial"/>
                          <a:ea typeface="Arial"/>
                          <a:cs typeface="Arial"/>
                        </a:rPr>
                        <a:t>Écriture, usurpation et retrait refusés</a:t>
                      </a:r>
                    </a:p>
                  </a:txBody>
                  <a:tcPr anchor="ctr">
                    <a:solidFill>
                      <a:srgbClr val="EEF3F6"/>
                    </a:solidFill>
                  </a:tcPr>
                </a:tc>
                <a:extLst>
                  <a:ext uri="{0D108BD9-81ED-4DB2-BD59-A6C34878D82A}">
                    <a16:rowId xmlns:a16="http://schemas.microsoft.com/office/drawing/2014/main" val="10002"/>
                  </a:ext>
                </a:extLst>
              </a:tr>
              <a:tr h="733425">
                <a:tc>
                  <a:txBody>
                    <a:bodyPr/>
                    <a:lstStyle/>
                    <a:p>
                      <a:r>
                        <a:rPr sz="1800" b="0">
                          <a:solidFill>
                            <a:srgbClr val="193445"/>
                          </a:solidFill>
                          <a:latin typeface="Arial"/>
                          <a:ea typeface="Arial"/>
                          <a:cs typeface="Arial"/>
                        </a:rPr>
                        <a:t>Dossier envoyé aux RH</a:t>
                      </a:r>
                    </a:p>
                  </a:txBody>
                  <a:tcPr anchor="ctr">
                    <a:solidFill>
                      <a:srgbClr val="FFFFFF"/>
                    </a:solidFill>
                  </a:tcPr>
                </a:tc>
                <a:tc>
                  <a:txBody>
                    <a:bodyPr/>
                    <a:lstStyle/>
                    <a:p>
                      <a:r>
                        <a:rPr sz="1800" b="0">
                          <a:solidFill>
                            <a:srgbClr val="193445"/>
                          </a:solidFill>
                          <a:latin typeface="Arial"/>
                          <a:ea typeface="Arial"/>
                          <a:cs typeface="Arial"/>
                        </a:rPr>
                        <a:t>Mutation des enfants refusée, y compris DELETE</a:t>
                      </a:r>
                    </a:p>
                  </a:txBody>
                  <a:tcPr anchor="ctr">
                    <a:solidFill>
                      <a:srgbClr val="FFFFFF"/>
                    </a:solidFill>
                  </a:tcPr>
                </a:tc>
                <a:extLst>
                  <a:ext uri="{0D108BD9-81ED-4DB2-BD59-A6C34878D82A}">
                    <a16:rowId xmlns:a16="http://schemas.microsoft.com/office/drawing/2014/main" val="10003"/>
                  </a:ext>
                </a:extLst>
              </a:tr>
              <a:tr h="733425">
                <a:tc>
                  <a:txBody>
                    <a:bodyPr/>
                    <a:lstStyle/>
                    <a:p>
                      <a:r>
                        <a:rPr sz="1800" b="0">
                          <a:solidFill>
                            <a:srgbClr val="193445"/>
                          </a:solidFill>
                          <a:latin typeface="Arial"/>
                          <a:ea typeface="Arial"/>
                          <a:cs typeface="Arial"/>
                        </a:rPr>
                        <a:t>Paramètre calendrier</a:t>
                      </a:r>
                    </a:p>
                  </a:txBody>
                  <a:tcPr anchor="ctr">
                    <a:solidFill>
                      <a:srgbClr val="EEF3F6"/>
                    </a:solidFill>
                  </a:tcPr>
                </a:tc>
                <a:tc>
                  <a:txBody>
                    <a:bodyPr/>
                    <a:lstStyle/>
                    <a:p>
                      <a:r>
                        <a:rPr sz="1800" b="0">
                          <a:solidFill>
                            <a:srgbClr val="193445"/>
                          </a:solidFill>
                          <a:latin typeface="Arial"/>
                          <a:ea typeface="Arial"/>
                          <a:cs typeface="Arial"/>
                        </a:rPr>
                        <a:t>Utilisateur refusé, administrateur autorisé</a:t>
                      </a:r>
                    </a:p>
                  </a:txBody>
                  <a:tcPr anchor="ctr">
                    <a:solidFill>
                      <a:srgbClr val="EEF3F6"/>
                    </a:solidFill>
                  </a:tcPr>
                </a:tc>
                <a:extLst>
                  <a:ext uri="{0D108BD9-81ED-4DB2-BD59-A6C34878D82A}">
                    <a16:rowId xmlns:a16="http://schemas.microsoft.com/office/drawing/2014/main" val="10004"/>
                  </a:ext>
                </a:extLst>
              </a:tr>
            </a:tbl>
          </a:graphicData>
        </a:graphic>
      </p:graphicFrame>
      <p:sp>
        <p:nvSpPr>
          <p:cNvPr id="3" name="text">
            <a:extLst>
              <a:ext uri="{FF2B5EF4-FFF2-40B4-BE49-F238E27FC236}">
                <a16:creationId xmlns:a16="http://schemas.microsoft.com/office/drawing/2014/main" id="{E99B68B8-D280-497D-98D2-63E530D7047E}"/>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Ajouter cas positifs, cinq rôles, déplacements et courses concurrentes</a:t>
            </a:r>
          </a:p>
        </p:txBody>
      </p:sp>
      <p:sp>
        <p:nvSpPr>
          <p:cNvPr id="4" name="text">
            <a:extLst>
              <a:ext uri="{FF2B5EF4-FFF2-40B4-BE49-F238E27FC236}">
                <a16:creationId xmlns:a16="http://schemas.microsoft.com/office/drawing/2014/main" id="{8BB79DA2-D1B0-48B5-8A8B-77F9CF8A0038}"/>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Annexe · 25</a:t>
            </a:r>
          </a:p>
        </p:txBody>
      </p:sp>
    </p:spTree>
    <p:extLst>
      <p:ext uri="{BB962C8B-B14F-4D97-AF65-F5344CB8AC3E}">
        <p14:creationId xmlns:p14="http://schemas.microsoft.com/office/powerpoint/2010/main" val="1120894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A"/>
        </a:solidFill>
        <a:effectLst/>
      </p:bgPr>
    </p:bg>
    <p:spTree>
      <p:nvGrpSpPr>
        <p:cNvPr id="1" name=""/>
        <p:cNvGrpSpPr/>
        <p:nvPr/>
      </p:nvGrpSpPr>
      <p:grpSpPr>
        <a:xfrm>
          <a:off x="0" y="0"/>
          <a:ext cx="0" cy="0"/>
          <a:chOff x="0" y="0"/>
          <a:chExt cx="0" cy="0"/>
        </a:xfrm>
      </p:grpSpPr>
      <p:sp>
        <p:nvSpPr>
          <p:cNvPr id="10" name="text">
            <a:extLst>
              <a:ext uri="{FF2B5EF4-FFF2-40B4-BE49-F238E27FC236}">
                <a16:creationId xmlns:a16="http://schemas.microsoft.com/office/drawing/2014/main" id="{37E65329-494F-4DC0-AB4C-45B8EF54546C}"/>
              </a:ext>
            </a:extLst>
          </p:cNvPr>
          <p:cNvSpPr>
            <a:spLocks noGrp="1"/>
          </p:cNvSpPr>
          <p:nvPr/>
        </p:nvSpPr>
        <p:spPr>
          <a:xfrm>
            <a:off x="685800" y="581025"/>
            <a:ext cx="10744200" cy="952500"/>
          </a:xfrm>
          <a:prstGeom prst="rect">
            <a:avLst/>
          </a:prstGeom>
          <a:noFill/>
          <a:ln w="0">
            <a:noFill/>
          </a:ln>
        </p:spPr>
        <p:txBody>
          <a:bodyPr wrap="square" lIns="0" tIns="0" rIns="0" bIns="0" anchor="t">
            <a:noAutofit/>
          </a:bodyPr>
          <a:lstStyle>
            <a:defPPr>
              <a:defRPr sz="3300" b="1">
                <a:solidFill>
                  <a:srgbClr val="193445"/>
                </a:solidFill>
                <a:latin typeface="Arial"/>
                <a:ea typeface="Arial"/>
                <a:cs typeface="Arial"/>
              </a:defRPr>
            </a:defPPr>
          </a:lstStyle>
          <a:p>
            <a:pPr>
              <a:defRPr sz="3300" b="1">
                <a:solidFill>
                  <a:srgbClr val="193445"/>
                </a:solidFill>
                <a:latin typeface="Arial"/>
                <a:ea typeface="Arial"/>
                <a:cs typeface="Arial"/>
              </a:defRPr>
            </a:pPr>
            <a:r>
              <a:rPr sz="3300" b="1">
                <a:solidFill>
                  <a:srgbClr val="193445"/>
                </a:solidFill>
                <a:latin typeface="Arial"/>
                <a:ea typeface="Arial"/>
                <a:cs typeface="Arial"/>
              </a:rPr>
              <a:t>Annexe · Références et précautions</a:t>
            </a:r>
          </a:p>
        </p:txBody>
      </p:sp>
      <p:sp>
        <p:nvSpPr>
          <p:cNvPr id="2" name="text">
            <a:extLst>
              <a:ext uri="{FF2B5EF4-FFF2-40B4-BE49-F238E27FC236}">
                <a16:creationId xmlns:a16="http://schemas.microsoft.com/office/drawing/2014/main" id="{7DBCA0CF-FB4A-4622-BDB9-18BE75635B06}"/>
              </a:ext>
            </a:extLst>
          </p:cNvPr>
          <p:cNvSpPr>
            <a:spLocks noGrp="1"/>
          </p:cNvSpPr>
          <p:nvPr/>
        </p:nvSpPr>
        <p:spPr>
          <a:xfrm>
            <a:off x="685800" y="18097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Référentiel du projet</a:t>
            </a:r>
          </a:p>
        </p:txBody>
      </p:sp>
      <p:sp>
        <p:nvSpPr>
          <p:cNvPr id="3" name="text">
            <a:extLst>
              <a:ext uri="{FF2B5EF4-FFF2-40B4-BE49-F238E27FC236}">
                <a16:creationId xmlns:a16="http://schemas.microsoft.com/office/drawing/2014/main" id="{0788B524-6EE7-410F-ABE6-BD7CC0A1955E}"/>
              </a:ext>
            </a:extLst>
          </p:cNvPr>
          <p:cNvSpPr>
            <a:spLocks noGrp="1"/>
          </p:cNvSpPr>
          <p:nvPr/>
        </p:nvSpPr>
        <p:spPr>
          <a:xfrm>
            <a:off x="685800" y="21907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docs/access-rules.md, schema.sql et migrations courantes.</a:t>
            </a:r>
          </a:p>
        </p:txBody>
      </p:sp>
      <p:sp>
        <p:nvSpPr>
          <p:cNvPr id="4" name="text">
            <a:extLst>
              <a:ext uri="{FF2B5EF4-FFF2-40B4-BE49-F238E27FC236}">
                <a16:creationId xmlns:a16="http://schemas.microsoft.com/office/drawing/2014/main" id="{EF6C85E7-CFC6-4F9F-9DA5-87CE8B5F0524}"/>
              </a:ext>
            </a:extLst>
          </p:cNvPr>
          <p:cNvSpPr>
            <a:spLocks noGrp="1"/>
          </p:cNvSpPr>
          <p:nvPr/>
        </p:nvSpPr>
        <p:spPr>
          <a:xfrm>
            <a:off x="685800" y="30670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Documentation Supabase</a:t>
            </a:r>
          </a:p>
        </p:txBody>
      </p:sp>
      <p:sp>
        <p:nvSpPr>
          <p:cNvPr id="5" name="text">
            <a:extLst>
              <a:ext uri="{FF2B5EF4-FFF2-40B4-BE49-F238E27FC236}">
                <a16:creationId xmlns:a16="http://schemas.microsoft.com/office/drawing/2014/main" id="{348C289E-FBB0-423A-9FD8-EA911484E2EF}"/>
              </a:ext>
            </a:extLst>
          </p:cNvPr>
          <p:cNvSpPr>
            <a:spLocks noGrp="1"/>
          </p:cNvSpPr>
          <p:nvPr/>
        </p:nvSpPr>
        <p:spPr>
          <a:xfrm>
            <a:off x="685800" y="34480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Row Level Security et Multi-Factor Authentication.</a:t>
            </a:r>
          </a:p>
        </p:txBody>
      </p:sp>
      <p:sp>
        <p:nvSpPr>
          <p:cNvPr id="6" name="text">
            <a:extLst>
              <a:ext uri="{FF2B5EF4-FFF2-40B4-BE49-F238E27FC236}">
                <a16:creationId xmlns:a16="http://schemas.microsoft.com/office/drawing/2014/main" id="{CC8D7017-4E12-4DC4-A9A4-9790A03F6342}"/>
              </a:ext>
            </a:extLst>
          </p:cNvPr>
          <p:cNvSpPr>
            <a:spLocks noGrp="1"/>
          </p:cNvSpPr>
          <p:nvPr/>
        </p:nvSpPr>
        <p:spPr>
          <a:xfrm>
            <a:off x="685800" y="4324350"/>
            <a:ext cx="10820400" cy="304800"/>
          </a:xfrm>
          <a:prstGeom prst="rect">
            <a:avLst/>
          </a:prstGeom>
          <a:noFill/>
          <a:ln w="0">
            <a:noFill/>
          </a:ln>
        </p:spPr>
        <p:txBody>
          <a:bodyPr wrap="square" lIns="0" tIns="0" rIns="0" bIns="0" anchor="t">
            <a:noAutofit/>
          </a:bodyPr>
          <a:lstStyle>
            <a:defPPr>
              <a:defRPr sz="1875" b="1">
                <a:solidFill>
                  <a:srgbClr val="176B8A"/>
                </a:solidFill>
                <a:latin typeface="Arial"/>
                <a:ea typeface="Arial"/>
                <a:cs typeface="Arial"/>
              </a:defRPr>
            </a:defPPr>
          </a:lstStyle>
          <a:p>
            <a:pPr>
              <a:defRPr sz="1875" b="1">
                <a:solidFill>
                  <a:srgbClr val="176B8A"/>
                </a:solidFill>
                <a:latin typeface="Arial"/>
                <a:ea typeface="Arial"/>
                <a:cs typeface="Arial"/>
              </a:defRPr>
            </a:pPr>
            <a:r>
              <a:rPr sz="1875" b="1">
                <a:solidFill>
                  <a:srgbClr val="176B8A"/>
                </a:solidFill>
                <a:latin typeface="Arial"/>
                <a:ea typeface="Arial"/>
                <a:cs typeface="Arial"/>
              </a:rPr>
              <a:t>Guide CNIL</a:t>
            </a:r>
          </a:p>
        </p:txBody>
      </p:sp>
      <p:sp>
        <p:nvSpPr>
          <p:cNvPr id="7" name="text">
            <a:extLst>
              <a:ext uri="{FF2B5EF4-FFF2-40B4-BE49-F238E27FC236}">
                <a16:creationId xmlns:a16="http://schemas.microsoft.com/office/drawing/2014/main" id="{6FE5F435-DE8A-4E0D-A4A5-CBF7C17E1CDD}"/>
              </a:ext>
            </a:extLst>
          </p:cNvPr>
          <p:cNvSpPr>
            <a:spLocks noGrp="1"/>
          </p:cNvSpPr>
          <p:nvPr/>
        </p:nvSpPr>
        <p:spPr>
          <a:xfrm>
            <a:off x="685800" y="4705350"/>
            <a:ext cx="10572750" cy="847725"/>
          </a:xfrm>
          <a:prstGeom prst="rect">
            <a:avLst/>
          </a:prstGeom>
          <a:noFill/>
          <a:ln w="0">
            <a:noFill/>
          </a:ln>
        </p:spPr>
        <p:txBody>
          <a:bodyPr wrap="square" lIns="0" tIns="0" rIns="0" bIns="0" anchor="t">
            <a:noAutofit/>
          </a:bodyPr>
          <a:lstStyle>
            <a:defPPr>
              <a:defRPr sz="2025" b="0">
                <a:solidFill>
                  <a:srgbClr val="193445"/>
                </a:solidFill>
                <a:latin typeface="Arial"/>
                <a:ea typeface="Arial"/>
                <a:cs typeface="Arial"/>
              </a:defRPr>
            </a:defPPr>
          </a:lstStyle>
          <a:p>
            <a:pPr>
              <a:defRPr sz="2025" b="0">
                <a:solidFill>
                  <a:srgbClr val="193445"/>
                </a:solidFill>
                <a:latin typeface="Arial"/>
                <a:ea typeface="Arial"/>
                <a:cs typeface="Arial"/>
              </a:defRPr>
            </a:pPr>
            <a:r>
              <a:rPr sz="2025" b="0">
                <a:solidFill>
                  <a:srgbClr val="193445"/>
                </a:solidFill>
                <a:latin typeface="Arial"/>
                <a:ea typeface="Arial"/>
                <a:cs typeface="Arial"/>
              </a:rPr>
              <a:t>Sécurité des données personnelles : habilitations, traces et sauvegardes.</a:t>
            </a:r>
          </a:p>
        </p:txBody>
      </p:sp>
      <p:sp>
        <p:nvSpPr>
          <p:cNvPr id="8" name="text">
            <a:extLst>
              <a:ext uri="{FF2B5EF4-FFF2-40B4-BE49-F238E27FC236}">
                <a16:creationId xmlns:a16="http://schemas.microsoft.com/office/drawing/2014/main" id="{77E835FA-33B1-4E7B-91B3-E0E423F04844}"/>
              </a:ext>
            </a:extLst>
          </p:cNvPr>
          <p:cNvSpPr>
            <a:spLocks noGrp="1"/>
          </p:cNvSpPr>
          <p:nvPr/>
        </p:nvSpPr>
        <p:spPr>
          <a:xfrm>
            <a:off x="685800" y="5734050"/>
            <a:ext cx="10382250" cy="438150"/>
          </a:xfrm>
          <a:prstGeom prst="rect">
            <a:avLst/>
          </a:prstGeom>
          <a:noFill/>
          <a:ln w="0">
            <a:noFill/>
          </a:ln>
        </p:spPr>
        <p:txBody>
          <a:bodyPr wrap="square" lIns="0" tIns="0" rIns="0" bIns="0" anchor="t">
            <a:noAutofit/>
          </a:bodyPr>
          <a:lstStyle>
            <a:defPPr>
              <a:defRPr sz="1800" b="1">
                <a:solidFill>
                  <a:srgbClr val="176B8A"/>
                </a:solidFill>
                <a:latin typeface="Arial"/>
                <a:ea typeface="Arial"/>
                <a:cs typeface="Arial"/>
              </a:defRPr>
            </a:defPPr>
          </a:lstStyle>
          <a:p>
            <a:pPr>
              <a:defRPr sz="1800" b="1">
                <a:solidFill>
                  <a:srgbClr val="176B8A"/>
                </a:solidFill>
                <a:latin typeface="Arial"/>
                <a:ea typeface="Arial"/>
                <a:cs typeface="Arial"/>
              </a:defRPr>
            </a:pPr>
            <a:r>
              <a:rPr sz="1800" b="1">
                <a:solidFill>
                  <a:srgbClr val="176B8A"/>
                </a:solidFill>
                <a:latin typeface="Arial"/>
                <a:ea typeface="Arial"/>
                <a:cs typeface="Arial"/>
              </a:rPr>
              <a:t>Les références complètent les constats et ne constituent pas une certification</a:t>
            </a:r>
          </a:p>
        </p:txBody>
      </p:sp>
      <p:sp>
        <p:nvSpPr>
          <p:cNvPr id="9" name="text">
            <a:extLst>
              <a:ext uri="{FF2B5EF4-FFF2-40B4-BE49-F238E27FC236}">
                <a16:creationId xmlns:a16="http://schemas.microsoft.com/office/drawing/2014/main" id="{EF767B19-0115-457A-A9CB-CAFEE8574A1A}"/>
              </a:ext>
            </a:extLst>
          </p:cNvPr>
          <p:cNvSpPr>
            <a:spLocks noGrp="1"/>
          </p:cNvSpPr>
          <p:nvPr/>
        </p:nvSpPr>
        <p:spPr>
          <a:xfrm>
            <a:off x="685800" y="6400800"/>
            <a:ext cx="10820400" cy="209550"/>
          </a:xfrm>
          <a:prstGeom prst="rect">
            <a:avLst/>
          </a:prstGeom>
          <a:noFill/>
          <a:ln w="0">
            <a:noFill/>
          </a:ln>
        </p:spPr>
        <p:txBody>
          <a:bodyPr wrap="square" lIns="0" tIns="0" rIns="0" bIns="0" anchor="t">
            <a:noAutofit/>
          </a:bodyPr>
          <a:lstStyle>
            <a:defPPr>
              <a:defRPr sz="1200" b="0">
                <a:solidFill>
                  <a:srgbClr val="527080"/>
                </a:solidFill>
                <a:latin typeface="Arial"/>
                <a:ea typeface="Arial"/>
                <a:cs typeface="Arial"/>
              </a:defRPr>
            </a:defPPr>
          </a:lstStyle>
          <a:p>
            <a:pPr>
              <a:defRPr sz="1200" b="0">
                <a:solidFill>
                  <a:srgbClr val="527080"/>
                </a:solidFill>
                <a:latin typeface="Arial"/>
                <a:ea typeface="Arial"/>
                <a:cs typeface="Arial"/>
              </a:defRPr>
            </a:pPr>
            <a:r>
              <a:rPr sz="1200" b="0">
                <a:solidFill>
                  <a:srgbClr val="527080"/>
                </a:solidFill>
                <a:latin typeface="Arial"/>
                <a:ea typeface="Arial"/>
                <a:cs typeface="Arial"/>
              </a:rPr>
              <a:t>Astreintes · RSSI · Annexe · 26</a:t>
            </a:r>
          </a:p>
        </p:txBody>
      </p:sp>
    </p:spTree>
    <p:extLst>
      <p:ext uri="{BB962C8B-B14F-4D97-AF65-F5344CB8AC3E}">
        <p14:creationId xmlns:p14="http://schemas.microsoft.com/office/powerpoint/2010/main" val="184405191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7544</Words>
  <Application>Microsoft Office PowerPoint</Application>
  <DocSecurity>0</DocSecurity>
  <PresentationFormat>Grand écran</PresentationFormat>
  <Paragraphs>571</Paragraphs>
  <Slides>26</Slides>
  <Notes>26</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26</vt:i4>
      </vt:variant>
    </vt:vector>
  </HeadingPairs>
  <TitlesOfParts>
    <vt:vector size="29" baseType="lpstr">
      <vt:lpstr>Aptos</vt:lpstr>
      <vt:lpstr>Arial</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ludovic barre</cp:lastModifiedBy>
  <cp:revision>1</cp:revision>
  <dcterms:created xsi:type="dcterms:W3CDTF">2026-10-10T20:30:15Z</dcterms:created>
  <dcterms:modified xsi:type="dcterms:W3CDTF">2026-10-10T20:38:14Z</dcterms:modified>
</cp:coreProperties>
</file>